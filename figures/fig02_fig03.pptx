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2400" b="1" i="0" dirty="0">
                <a:solidFill>
                  <a:srgbClr val="0B0B0B"/>
                </a:solidFill>
                <a:latin typeface="Arial"/>
                <a:cs typeface="Arial"/>
              </a:rPr>
              <a:t>Study design: runs analysed and person-disjoint splits</a:t>
            </a:r>
            <a:endParaRPr lang="en-US" sz="2400" dirty="0"/>
          </a:p>
        </p:txBody>
      </p:sp>
      <p:sp>
        <p:nvSpPr>
          <p:cNvPr id="3" name="legend key 3"/>
          <p:cNvSpPr/>
          <p:nvPr/>
        </p:nvSpPr>
        <p:spPr>
          <a:xfrm>
            <a:off x="457200" y="1024128"/>
            <a:ext cx="182880" cy="182880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" name="legend label 4"/>
          <p:cNvSpPr txBox="1"/>
          <p:nvPr/>
        </p:nvSpPr>
        <p:spPr>
          <a:xfrm>
            <a:off x="704088" y="95097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S1 development, 2,460 runs</a:t>
            </a:r>
            <a:endParaRPr lang="en-US" sz="1100" dirty="0"/>
          </a:p>
        </p:txBody>
      </p:sp>
      <p:sp>
        <p:nvSpPr>
          <p:cNvPr id="5" name="legend key 5"/>
          <p:cNvSpPr/>
          <p:nvPr/>
        </p:nvSpPr>
        <p:spPr>
          <a:xfrm>
            <a:off x="3291840" y="1024128"/>
            <a:ext cx="182880" cy="182880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6" name="legend label 6"/>
          <p:cNvSpPr txBox="1"/>
          <p:nvPr/>
        </p:nvSpPr>
        <p:spPr>
          <a:xfrm>
            <a:off x="3538728" y="95097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S2 held-out (H1), 948 runs</a:t>
            </a:r>
            <a:endParaRPr lang="en-US" sz="1100" dirty="0"/>
          </a:p>
        </p:txBody>
      </p:sp>
      <p:sp>
        <p:nvSpPr>
          <p:cNvPr id="7" name="legend key 7"/>
          <p:cNvSpPr/>
          <p:nvPr/>
        </p:nvSpPr>
        <p:spPr>
          <a:xfrm>
            <a:off x="6126480" y="1024128"/>
            <a:ext cx="182880" cy="182880"/>
          </a:xfrm>
          <a:prstGeom prst="rect">
            <a:avLst/>
          </a:prstGeom>
          <a:solidFill>
            <a:srgbClr val="199E70"/>
          </a:solidFill>
          <a:ln>
            <a:noFill/>
          </a:ln>
        </p:spPr>
      </p:sp>
      <p:sp>
        <p:nvSpPr>
          <p:cNvPr id="8" name="legend label 8"/>
          <p:cNvSpPr txBox="1"/>
          <p:nvPr/>
        </p:nvSpPr>
        <p:spPr>
          <a:xfrm>
            <a:off x="6373368" y="95097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S3 benchmark networks, 510 runs</a:t>
            </a:r>
            <a:endParaRPr lang="en-US" sz="1100" dirty="0"/>
          </a:p>
        </p:txBody>
      </p:sp>
      <p:sp>
        <p:nvSpPr>
          <p:cNvPr id="9" name="legend key 9"/>
          <p:cNvSpPr/>
          <p:nvPr/>
        </p:nvSpPr>
        <p:spPr>
          <a:xfrm>
            <a:off x="8961120" y="1024128"/>
            <a:ext cx="182880" cy="182880"/>
          </a:xfrm>
          <a:prstGeom prst="rect">
            <a:avLst/>
          </a:prstGeom>
          <a:pattFill prst="wdUpDiag">
            <a:fgClr>
              <a:srgbClr val="3D3C39"/>
            </a:fgClr>
            <a:bgClr>
              <a:srgbClr val="FFFFFF"/>
            </a:bgClr>
          </a:pattFill>
          <a:ln w="9525">
            <a:solidFill>
              <a:srgbClr val="3D3C39"/>
            </a:solidFill>
          </a:ln>
        </p:spPr>
      </p:sp>
      <p:sp>
        <p:nvSpPr>
          <p:cNvPr id="10" name="legend label 10"/>
          <p:cNvSpPr txBox="1"/>
          <p:nvPr/>
        </p:nvSpPr>
        <p:spPr>
          <a:xfrm>
            <a:off x="9208008" y="95097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excluded by the inclusion rule</a:t>
            </a:r>
            <a:endParaRPr lang="en-US" sz="1100" dirty="0"/>
          </a:p>
        </p:txBody>
      </p:sp>
      <p:sp>
        <p:nvSpPr>
          <p:cNvPr id="11" name="panel a 11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400" b="1" i="0" dirty="0">
                <a:solidFill>
                  <a:srgbClr val="0B0B0B"/>
                </a:solidFill>
                <a:latin typeface="Arial"/>
                <a:cs typeface="Arial"/>
              </a:rPr>
              <a:t>(a)</a:t>
            </a:r>
            <a:r>
              <a:rPr lang="en-US" sz="1400" b="0" i="0" dirty="0">
                <a:solidFill>
                  <a:srgbClr val="0B0B0B"/>
                </a:solidFill>
                <a:latin typeface="Arial"/>
                <a:cs typeface="Arial"/>
              </a:rPr>
              <a:t>  Stored runs: networks by datasets</a:t>
            </a:r>
            <a:endParaRPr lang="en-US" sz="1400" dirty="0"/>
          </a:p>
        </p:txBody>
      </p:sp>
      <p:sp>
        <p:nvSpPr>
          <p:cNvPr id="12" name="row label 12"/>
          <p:cNvSpPr txBox="1"/>
          <p:nvPr/>
        </p:nvSpPr>
        <p:spPr>
          <a:xfrm>
            <a:off x="457200" y="217627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RecurrenceNet</a:t>
            </a:r>
            <a:endParaRPr lang="en-US" sz="1100" dirty="0"/>
          </a:p>
        </p:txBody>
      </p:sp>
      <p:sp>
        <p:nvSpPr>
          <p:cNvPr id="13" name="S1 cell 13"/>
          <p:cNvSpPr/>
          <p:nvPr/>
        </p:nvSpPr>
        <p:spPr>
          <a:xfrm>
            <a:off x="2532888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4" name="S1 cell 14"/>
          <p:cNvSpPr/>
          <p:nvPr/>
        </p:nvSpPr>
        <p:spPr>
          <a:xfrm>
            <a:off x="2788920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" name="S1 cell 15"/>
          <p:cNvSpPr/>
          <p:nvPr/>
        </p:nvSpPr>
        <p:spPr>
          <a:xfrm>
            <a:off x="3044952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6" name="S1 cell 16"/>
          <p:cNvSpPr/>
          <p:nvPr/>
        </p:nvSpPr>
        <p:spPr>
          <a:xfrm>
            <a:off x="3300984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" name="S1 cell 17"/>
          <p:cNvSpPr/>
          <p:nvPr/>
        </p:nvSpPr>
        <p:spPr>
          <a:xfrm>
            <a:off x="3557016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" name="S1 cell 18"/>
          <p:cNvSpPr/>
          <p:nvPr/>
        </p:nvSpPr>
        <p:spPr>
          <a:xfrm>
            <a:off x="3813048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9" name="S1 cell 19"/>
          <p:cNvSpPr/>
          <p:nvPr/>
        </p:nvSpPr>
        <p:spPr>
          <a:xfrm>
            <a:off x="4069080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0" name="S1 cell 20"/>
          <p:cNvSpPr/>
          <p:nvPr/>
        </p:nvSpPr>
        <p:spPr>
          <a:xfrm>
            <a:off x="4325112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1" name="S1 cell 21"/>
          <p:cNvSpPr/>
          <p:nvPr/>
        </p:nvSpPr>
        <p:spPr>
          <a:xfrm>
            <a:off x="4581144" y="223113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2" name="excluded cell 22"/>
          <p:cNvSpPr/>
          <p:nvPr/>
        </p:nvSpPr>
        <p:spPr>
          <a:xfrm>
            <a:off x="4837176" y="2231136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23" name="S2 cell 23"/>
          <p:cNvSpPr/>
          <p:nvPr/>
        </p:nvSpPr>
        <p:spPr>
          <a:xfrm>
            <a:off x="5294376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24" name="S2 cell 24"/>
          <p:cNvSpPr/>
          <p:nvPr/>
        </p:nvSpPr>
        <p:spPr>
          <a:xfrm>
            <a:off x="5550408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25" name="S2 cell 25"/>
          <p:cNvSpPr/>
          <p:nvPr/>
        </p:nvSpPr>
        <p:spPr>
          <a:xfrm>
            <a:off x="5806440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26" name="S2 cell 26"/>
          <p:cNvSpPr/>
          <p:nvPr/>
        </p:nvSpPr>
        <p:spPr>
          <a:xfrm>
            <a:off x="6062472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27" name="excluded cell 27"/>
          <p:cNvSpPr/>
          <p:nvPr/>
        </p:nvSpPr>
        <p:spPr>
          <a:xfrm>
            <a:off x="6318504" y="2231136"/>
            <a:ext cx="219456" cy="219456"/>
          </a:xfrm>
          <a:prstGeom prst="rect">
            <a:avLst/>
          </a:prstGeom>
          <a:pattFill prst="wdUpDiag">
            <a:fgClr>
              <a:srgbClr val="D95926"/>
            </a:fgClr>
            <a:bgClr>
              <a:srgbClr val="F6D6C9"/>
            </a:bgClr>
          </a:pattFill>
          <a:ln w="6350">
            <a:solidFill>
              <a:srgbClr val="D95926"/>
            </a:solidFill>
          </a:ln>
        </p:spPr>
      </p:sp>
      <p:sp>
        <p:nvSpPr>
          <p:cNvPr id="28" name="S2 cell 28"/>
          <p:cNvSpPr/>
          <p:nvPr/>
        </p:nvSpPr>
        <p:spPr>
          <a:xfrm>
            <a:off x="6574536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29" name="S2 cell 29"/>
          <p:cNvSpPr/>
          <p:nvPr/>
        </p:nvSpPr>
        <p:spPr>
          <a:xfrm>
            <a:off x="6830568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30" name="S2 cell 30"/>
          <p:cNvSpPr/>
          <p:nvPr/>
        </p:nvSpPr>
        <p:spPr>
          <a:xfrm>
            <a:off x="7086600" y="2231136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31" name="row label 31"/>
          <p:cNvSpPr txBox="1"/>
          <p:nvPr/>
        </p:nvSpPr>
        <p:spPr>
          <a:xfrm>
            <a:off x="457200" y="2432304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S4D</a:t>
            </a:r>
            <a:endParaRPr lang="en-US" sz="1100" dirty="0"/>
          </a:p>
        </p:txBody>
      </p:sp>
      <p:sp>
        <p:nvSpPr>
          <p:cNvPr id="32" name="S1 cell 32"/>
          <p:cNvSpPr/>
          <p:nvPr/>
        </p:nvSpPr>
        <p:spPr>
          <a:xfrm>
            <a:off x="2532888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3" name="S1 cell 33"/>
          <p:cNvSpPr/>
          <p:nvPr/>
        </p:nvSpPr>
        <p:spPr>
          <a:xfrm>
            <a:off x="2788920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4" name="S1 cell 34"/>
          <p:cNvSpPr/>
          <p:nvPr/>
        </p:nvSpPr>
        <p:spPr>
          <a:xfrm>
            <a:off x="3044952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5" name="S1 cell 35"/>
          <p:cNvSpPr/>
          <p:nvPr/>
        </p:nvSpPr>
        <p:spPr>
          <a:xfrm>
            <a:off x="3300984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6" name="S1 cell 36"/>
          <p:cNvSpPr/>
          <p:nvPr/>
        </p:nvSpPr>
        <p:spPr>
          <a:xfrm>
            <a:off x="3557016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7" name="S1 cell 37"/>
          <p:cNvSpPr/>
          <p:nvPr/>
        </p:nvSpPr>
        <p:spPr>
          <a:xfrm>
            <a:off x="3813048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8" name="S1 cell 38"/>
          <p:cNvSpPr/>
          <p:nvPr/>
        </p:nvSpPr>
        <p:spPr>
          <a:xfrm>
            <a:off x="4069080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9" name="S1 cell 39"/>
          <p:cNvSpPr/>
          <p:nvPr/>
        </p:nvSpPr>
        <p:spPr>
          <a:xfrm>
            <a:off x="4325112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0" name="S1 cell 40"/>
          <p:cNvSpPr/>
          <p:nvPr/>
        </p:nvSpPr>
        <p:spPr>
          <a:xfrm>
            <a:off x="4581144" y="248716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1" name="excluded cell 41"/>
          <p:cNvSpPr/>
          <p:nvPr/>
        </p:nvSpPr>
        <p:spPr>
          <a:xfrm>
            <a:off x="4837176" y="2487168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42" name="S2 cell 42"/>
          <p:cNvSpPr/>
          <p:nvPr/>
        </p:nvSpPr>
        <p:spPr>
          <a:xfrm>
            <a:off x="5294376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3" name="S2 cell 43"/>
          <p:cNvSpPr/>
          <p:nvPr/>
        </p:nvSpPr>
        <p:spPr>
          <a:xfrm>
            <a:off x="5550408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4" name="S2 cell 44"/>
          <p:cNvSpPr/>
          <p:nvPr/>
        </p:nvSpPr>
        <p:spPr>
          <a:xfrm>
            <a:off x="5806440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5" name="S2 cell 45"/>
          <p:cNvSpPr/>
          <p:nvPr/>
        </p:nvSpPr>
        <p:spPr>
          <a:xfrm>
            <a:off x="6062472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6" name="excluded cell 46"/>
          <p:cNvSpPr/>
          <p:nvPr/>
        </p:nvSpPr>
        <p:spPr>
          <a:xfrm>
            <a:off x="6318504" y="2487168"/>
            <a:ext cx="219456" cy="219456"/>
          </a:xfrm>
          <a:prstGeom prst="rect">
            <a:avLst/>
          </a:prstGeom>
          <a:pattFill prst="wdUpDiag">
            <a:fgClr>
              <a:srgbClr val="D95926"/>
            </a:fgClr>
            <a:bgClr>
              <a:srgbClr val="F6D6C9"/>
            </a:bgClr>
          </a:pattFill>
          <a:ln w="6350">
            <a:solidFill>
              <a:srgbClr val="D95926"/>
            </a:solidFill>
          </a:ln>
        </p:spPr>
      </p:sp>
      <p:sp>
        <p:nvSpPr>
          <p:cNvPr id="47" name="S2 cell 47"/>
          <p:cNvSpPr/>
          <p:nvPr/>
        </p:nvSpPr>
        <p:spPr>
          <a:xfrm>
            <a:off x="6574536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8" name="S2 cell 48"/>
          <p:cNvSpPr/>
          <p:nvPr/>
        </p:nvSpPr>
        <p:spPr>
          <a:xfrm>
            <a:off x="6830568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49" name="S2 cell 49"/>
          <p:cNvSpPr/>
          <p:nvPr/>
        </p:nvSpPr>
        <p:spPr>
          <a:xfrm>
            <a:off x="7086600" y="248716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50" name="row label 50"/>
          <p:cNvSpPr txBox="1"/>
          <p:nvPr/>
        </p:nvSpPr>
        <p:spPr>
          <a:xfrm>
            <a:off x="457200" y="2688336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HysteresisNet</a:t>
            </a:r>
            <a:endParaRPr lang="en-US" sz="1100" dirty="0"/>
          </a:p>
        </p:txBody>
      </p:sp>
      <p:sp>
        <p:nvSpPr>
          <p:cNvPr id="51" name="S1 cell 51"/>
          <p:cNvSpPr/>
          <p:nvPr/>
        </p:nvSpPr>
        <p:spPr>
          <a:xfrm>
            <a:off x="2532888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2" name="S1 cell 52"/>
          <p:cNvSpPr/>
          <p:nvPr/>
        </p:nvSpPr>
        <p:spPr>
          <a:xfrm>
            <a:off x="2788920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3" name="S1 cell 53"/>
          <p:cNvSpPr/>
          <p:nvPr/>
        </p:nvSpPr>
        <p:spPr>
          <a:xfrm>
            <a:off x="3044952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4" name="S1 cell 54"/>
          <p:cNvSpPr/>
          <p:nvPr/>
        </p:nvSpPr>
        <p:spPr>
          <a:xfrm>
            <a:off x="3300984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5" name="S1 cell 55"/>
          <p:cNvSpPr/>
          <p:nvPr/>
        </p:nvSpPr>
        <p:spPr>
          <a:xfrm>
            <a:off x="3557016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6" name="S1 cell 56"/>
          <p:cNvSpPr/>
          <p:nvPr/>
        </p:nvSpPr>
        <p:spPr>
          <a:xfrm>
            <a:off x="3813048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7" name="S1 cell 57"/>
          <p:cNvSpPr/>
          <p:nvPr/>
        </p:nvSpPr>
        <p:spPr>
          <a:xfrm>
            <a:off x="4069080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8" name="S1 cell 58"/>
          <p:cNvSpPr/>
          <p:nvPr/>
        </p:nvSpPr>
        <p:spPr>
          <a:xfrm>
            <a:off x="4325112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9" name="S1 cell 59"/>
          <p:cNvSpPr/>
          <p:nvPr/>
        </p:nvSpPr>
        <p:spPr>
          <a:xfrm>
            <a:off x="4581144" y="274320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60" name="excluded cell 60"/>
          <p:cNvSpPr/>
          <p:nvPr/>
        </p:nvSpPr>
        <p:spPr>
          <a:xfrm>
            <a:off x="4837176" y="2743200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61" name="empty cell 61"/>
          <p:cNvSpPr/>
          <p:nvPr/>
        </p:nvSpPr>
        <p:spPr>
          <a:xfrm>
            <a:off x="5294376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2" name="empty cell 62"/>
          <p:cNvSpPr/>
          <p:nvPr/>
        </p:nvSpPr>
        <p:spPr>
          <a:xfrm>
            <a:off x="5550408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3" name="empty cell 63"/>
          <p:cNvSpPr/>
          <p:nvPr/>
        </p:nvSpPr>
        <p:spPr>
          <a:xfrm>
            <a:off x="5806440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4" name="empty cell 64"/>
          <p:cNvSpPr/>
          <p:nvPr/>
        </p:nvSpPr>
        <p:spPr>
          <a:xfrm>
            <a:off x="6062472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5" name="empty cell 65"/>
          <p:cNvSpPr/>
          <p:nvPr/>
        </p:nvSpPr>
        <p:spPr>
          <a:xfrm>
            <a:off x="6318504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6" name="empty cell 66"/>
          <p:cNvSpPr/>
          <p:nvPr/>
        </p:nvSpPr>
        <p:spPr>
          <a:xfrm>
            <a:off x="6574536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7" name="empty cell 67"/>
          <p:cNvSpPr/>
          <p:nvPr/>
        </p:nvSpPr>
        <p:spPr>
          <a:xfrm>
            <a:off x="6830568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8" name="empty cell 68"/>
          <p:cNvSpPr/>
          <p:nvPr/>
        </p:nvSpPr>
        <p:spPr>
          <a:xfrm>
            <a:off x="7086600" y="274320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69" name="row label 69"/>
          <p:cNvSpPr txBox="1"/>
          <p:nvPr/>
        </p:nvSpPr>
        <p:spPr>
          <a:xfrm>
            <a:off x="457200" y="2944368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QuantileNet</a:t>
            </a:r>
            <a:endParaRPr lang="en-US" sz="1100" dirty="0"/>
          </a:p>
        </p:txBody>
      </p:sp>
      <p:sp>
        <p:nvSpPr>
          <p:cNvPr id="70" name="S1 cell 70"/>
          <p:cNvSpPr/>
          <p:nvPr/>
        </p:nvSpPr>
        <p:spPr>
          <a:xfrm>
            <a:off x="2532888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1" name="S1 cell 71"/>
          <p:cNvSpPr/>
          <p:nvPr/>
        </p:nvSpPr>
        <p:spPr>
          <a:xfrm>
            <a:off x="2788920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2" name="S1 cell 72"/>
          <p:cNvSpPr/>
          <p:nvPr/>
        </p:nvSpPr>
        <p:spPr>
          <a:xfrm>
            <a:off x="3044952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3" name="S1 cell 73"/>
          <p:cNvSpPr/>
          <p:nvPr/>
        </p:nvSpPr>
        <p:spPr>
          <a:xfrm>
            <a:off x="3300984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4" name="S1 cell 74"/>
          <p:cNvSpPr/>
          <p:nvPr/>
        </p:nvSpPr>
        <p:spPr>
          <a:xfrm>
            <a:off x="3557016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5" name="S1 cell 75"/>
          <p:cNvSpPr/>
          <p:nvPr/>
        </p:nvSpPr>
        <p:spPr>
          <a:xfrm>
            <a:off x="3813048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6" name="S1 cell 76"/>
          <p:cNvSpPr/>
          <p:nvPr/>
        </p:nvSpPr>
        <p:spPr>
          <a:xfrm>
            <a:off x="4069080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7" name="S1 cell 77"/>
          <p:cNvSpPr/>
          <p:nvPr/>
        </p:nvSpPr>
        <p:spPr>
          <a:xfrm>
            <a:off x="4325112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8" name="S1 cell 78"/>
          <p:cNvSpPr/>
          <p:nvPr/>
        </p:nvSpPr>
        <p:spPr>
          <a:xfrm>
            <a:off x="4581144" y="299923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79" name="excluded cell 79"/>
          <p:cNvSpPr/>
          <p:nvPr/>
        </p:nvSpPr>
        <p:spPr>
          <a:xfrm>
            <a:off x="4837176" y="2999232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80" name="empty cell 80"/>
          <p:cNvSpPr/>
          <p:nvPr/>
        </p:nvSpPr>
        <p:spPr>
          <a:xfrm>
            <a:off x="5294376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1" name="empty cell 81"/>
          <p:cNvSpPr/>
          <p:nvPr/>
        </p:nvSpPr>
        <p:spPr>
          <a:xfrm>
            <a:off x="5550408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2" name="empty cell 82"/>
          <p:cNvSpPr/>
          <p:nvPr/>
        </p:nvSpPr>
        <p:spPr>
          <a:xfrm>
            <a:off x="5806440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3" name="empty cell 83"/>
          <p:cNvSpPr/>
          <p:nvPr/>
        </p:nvSpPr>
        <p:spPr>
          <a:xfrm>
            <a:off x="6062472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4" name="empty cell 84"/>
          <p:cNvSpPr/>
          <p:nvPr/>
        </p:nvSpPr>
        <p:spPr>
          <a:xfrm>
            <a:off x="6318504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5" name="empty cell 85"/>
          <p:cNvSpPr/>
          <p:nvPr/>
        </p:nvSpPr>
        <p:spPr>
          <a:xfrm>
            <a:off x="6574536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6" name="empty cell 86"/>
          <p:cNvSpPr/>
          <p:nvPr/>
        </p:nvSpPr>
        <p:spPr>
          <a:xfrm>
            <a:off x="6830568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7" name="empty cell 87"/>
          <p:cNvSpPr/>
          <p:nvPr/>
        </p:nvSpPr>
        <p:spPr>
          <a:xfrm>
            <a:off x="7086600" y="299923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88" name="row label 88"/>
          <p:cNvSpPr txBox="1"/>
          <p:nvPr/>
        </p:nvSpPr>
        <p:spPr>
          <a:xfrm>
            <a:off x="457200" y="3200400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Mamba</a:t>
            </a:r>
            <a:endParaRPr lang="en-US" sz="1100" dirty="0"/>
          </a:p>
        </p:txBody>
      </p:sp>
      <p:sp>
        <p:nvSpPr>
          <p:cNvPr id="89" name="S1 cell 89"/>
          <p:cNvSpPr/>
          <p:nvPr/>
        </p:nvSpPr>
        <p:spPr>
          <a:xfrm>
            <a:off x="2532888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0" name="S1 cell 90"/>
          <p:cNvSpPr/>
          <p:nvPr/>
        </p:nvSpPr>
        <p:spPr>
          <a:xfrm>
            <a:off x="2788920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1" name="S1 cell 91"/>
          <p:cNvSpPr/>
          <p:nvPr/>
        </p:nvSpPr>
        <p:spPr>
          <a:xfrm>
            <a:off x="3044952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2" name="S1 cell 92"/>
          <p:cNvSpPr/>
          <p:nvPr/>
        </p:nvSpPr>
        <p:spPr>
          <a:xfrm>
            <a:off x="3300984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3" name="S1 cell 93"/>
          <p:cNvSpPr/>
          <p:nvPr/>
        </p:nvSpPr>
        <p:spPr>
          <a:xfrm>
            <a:off x="3557016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4" name="S1 cell 94"/>
          <p:cNvSpPr/>
          <p:nvPr/>
        </p:nvSpPr>
        <p:spPr>
          <a:xfrm>
            <a:off x="3813048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5" name="S1 cell 95"/>
          <p:cNvSpPr/>
          <p:nvPr/>
        </p:nvSpPr>
        <p:spPr>
          <a:xfrm>
            <a:off x="4069080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6" name="S1 cell 96"/>
          <p:cNvSpPr/>
          <p:nvPr/>
        </p:nvSpPr>
        <p:spPr>
          <a:xfrm>
            <a:off x="4325112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7" name="S1 cell 97"/>
          <p:cNvSpPr/>
          <p:nvPr/>
        </p:nvSpPr>
        <p:spPr>
          <a:xfrm>
            <a:off x="4581144" y="325526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98" name="excluded cell 98"/>
          <p:cNvSpPr/>
          <p:nvPr/>
        </p:nvSpPr>
        <p:spPr>
          <a:xfrm>
            <a:off x="4837176" y="3255264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99" name="empty cell 99"/>
          <p:cNvSpPr/>
          <p:nvPr/>
        </p:nvSpPr>
        <p:spPr>
          <a:xfrm>
            <a:off x="5294376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0" name="empty cell 100"/>
          <p:cNvSpPr/>
          <p:nvPr/>
        </p:nvSpPr>
        <p:spPr>
          <a:xfrm>
            <a:off x="5550408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1" name="empty cell 101"/>
          <p:cNvSpPr/>
          <p:nvPr/>
        </p:nvSpPr>
        <p:spPr>
          <a:xfrm>
            <a:off x="5806440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2" name="empty cell 102"/>
          <p:cNvSpPr/>
          <p:nvPr/>
        </p:nvSpPr>
        <p:spPr>
          <a:xfrm>
            <a:off x="6062472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3" name="empty cell 103"/>
          <p:cNvSpPr/>
          <p:nvPr/>
        </p:nvSpPr>
        <p:spPr>
          <a:xfrm>
            <a:off x="6318504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4" name="empty cell 104"/>
          <p:cNvSpPr/>
          <p:nvPr/>
        </p:nvSpPr>
        <p:spPr>
          <a:xfrm>
            <a:off x="6574536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5" name="empty cell 105"/>
          <p:cNvSpPr/>
          <p:nvPr/>
        </p:nvSpPr>
        <p:spPr>
          <a:xfrm>
            <a:off x="6830568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6" name="empty cell 106"/>
          <p:cNvSpPr/>
          <p:nvPr/>
        </p:nvSpPr>
        <p:spPr>
          <a:xfrm>
            <a:off x="7086600" y="325526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07" name="row label 107"/>
          <p:cNvSpPr txBox="1"/>
          <p:nvPr/>
        </p:nvSpPr>
        <p:spPr>
          <a:xfrm>
            <a:off x="457200" y="3456432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No memory</a:t>
            </a:r>
            <a:endParaRPr lang="en-US" sz="1100" dirty="0"/>
          </a:p>
        </p:txBody>
      </p:sp>
      <p:sp>
        <p:nvSpPr>
          <p:cNvPr id="108" name="S1 cell 108"/>
          <p:cNvSpPr/>
          <p:nvPr/>
        </p:nvSpPr>
        <p:spPr>
          <a:xfrm>
            <a:off x="2532888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09" name="S1 cell 109"/>
          <p:cNvSpPr/>
          <p:nvPr/>
        </p:nvSpPr>
        <p:spPr>
          <a:xfrm>
            <a:off x="2788920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0" name="S1 cell 110"/>
          <p:cNvSpPr/>
          <p:nvPr/>
        </p:nvSpPr>
        <p:spPr>
          <a:xfrm>
            <a:off x="3044952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1" name="S1 cell 111"/>
          <p:cNvSpPr/>
          <p:nvPr/>
        </p:nvSpPr>
        <p:spPr>
          <a:xfrm>
            <a:off x="3300984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2" name="S1 cell 112"/>
          <p:cNvSpPr/>
          <p:nvPr/>
        </p:nvSpPr>
        <p:spPr>
          <a:xfrm>
            <a:off x="3557016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3" name="S1 cell 113"/>
          <p:cNvSpPr/>
          <p:nvPr/>
        </p:nvSpPr>
        <p:spPr>
          <a:xfrm>
            <a:off x="3813048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4" name="S1 cell 114"/>
          <p:cNvSpPr/>
          <p:nvPr/>
        </p:nvSpPr>
        <p:spPr>
          <a:xfrm>
            <a:off x="4069080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5" name="S1 cell 115"/>
          <p:cNvSpPr/>
          <p:nvPr/>
        </p:nvSpPr>
        <p:spPr>
          <a:xfrm>
            <a:off x="4325112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6" name="S1 cell 116"/>
          <p:cNvSpPr/>
          <p:nvPr/>
        </p:nvSpPr>
        <p:spPr>
          <a:xfrm>
            <a:off x="4581144" y="3511296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17" name="excluded cell 117"/>
          <p:cNvSpPr/>
          <p:nvPr/>
        </p:nvSpPr>
        <p:spPr>
          <a:xfrm>
            <a:off x="4837176" y="3511296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118" name="empty cell 118"/>
          <p:cNvSpPr/>
          <p:nvPr/>
        </p:nvSpPr>
        <p:spPr>
          <a:xfrm>
            <a:off x="5294376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19" name="empty cell 119"/>
          <p:cNvSpPr/>
          <p:nvPr/>
        </p:nvSpPr>
        <p:spPr>
          <a:xfrm>
            <a:off x="5550408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0" name="empty cell 120"/>
          <p:cNvSpPr/>
          <p:nvPr/>
        </p:nvSpPr>
        <p:spPr>
          <a:xfrm>
            <a:off x="5806440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1" name="empty cell 121"/>
          <p:cNvSpPr/>
          <p:nvPr/>
        </p:nvSpPr>
        <p:spPr>
          <a:xfrm>
            <a:off x="6062472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2" name="empty cell 122"/>
          <p:cNvSpPr/>
          <p:nvPr/>
        </p:nvSpPr>
        <p:spPr>
          <a:xfrm>
            <a:off x="6318504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3" name="empty cell 123"/>
          <p:cNvSpPr/>
          <p:nvPr/>
        </p:nvSpPr>
        <p:spPr>
          <a:xfrm>
            <a:off x="6574536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4" name="empty cell 124"/>
          <p:cNvSpPr/>
          <p:nvPr/>
        </p:nvSpPr>
        <p:spPr>
          <a:xfrm>
            <a:off x="6830568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5" name="empty cell 125"/>
          <p:cNvSpPr/>
          <p:nvPr/>
        </p:nvSpPr>
        <p:spPr>
          <a:xfrm>
            <a:off x="7086600" y="3511296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26" name="row label 126"/>
          <p:cNvSpPr txBox="1"/>
          <p:nvPr/>
        </p:nvSpPr>
        <p:spPr>
          <a:xfrm>
            <a:off x="457200" y="3712464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RN + stats</a:t>
            </a:r>
            <a:endParaRPr lang="en-US" sz="1100" dirty="0"/>
          </a:p>
        </p:txBody>
      </p:sp>
      <p:sp>
        <p:nvSpPr>
          <p:cNvPr id="127" name="S1 cell 127"/>
          <p:cNvSpPr/>
          <p:nvPr/>
        </p:nvSpPr>
        <p:spPr>
          <a:xfrm>
            <a:off x="2532888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28" name="S1 cell 128"/>
          <p:cNvSpPr/>
          <p:nvPr/>
        </p:nvSpPr>
        <p:spPr>
          <a:xfrm>
            <a:off x="2788920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29" name="S1 cell 129"/>
          <p:cNvSpPr/>
          <p:nvPr/>
        </p:nvSpPr>
        <p:spPr>
          <a:xfrm>
            <a:off x="3044952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0" name="S1 cell 130"/>
          <p:cNvSpPr/>
          <p:nvPr/>
        </p:nvSpPr>
        <p:spPr>
          <a:xfrm>
            <a:off x="3300984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1" name="S1 cell 131"/>
          <p:cNvSpPr/>
          <p:nvPr/>
        </p:nvSpPr>
        <p:spPr>
          <a:xfrm>
            <a:off x="3557016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2" name="S1 cell 132"/>
          <p:cNvSpPr/>
          <p:nvPr/>
        </p:nvSpPr>
        <p:spPr>
          <a:xfrm>
            <a:off x="3813048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3" name="S1 cell 133"/>
          <p:cNvSpPr/>
          <p:nvPr/>
        </p:nvSpPr>
        <p:spPr>
          <a:xfrm>
            <a:off x="4069080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4" name="S1 cell 134"/>
          <p:cNvSpPr/>
          <p:nvPr/>
        </p:nvSpPr>
        <p:spPr>
          <a:xfrm>
            <a:off x="4325112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5" name="S1 cell 135"/>
          <p:cNvSpPr/>
          <p:nvPr/>
        </p:nvSpPr>
        <p:spPr>
          <a:xfrm>
            <a:off x="4581144" y="3767328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36" name="excluded cell 136"/>
          <p:cNvSpPr/>
          <p:nvPr/>
        </p:nvSpPr>
        <p:spPr>
          <a:xfrm>
            <a:off x="4837176" y="3767328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137" name="S2 cell 137"/>
          <p:cNvSpPr/>
          <p:nvPr/>
        </p:nvSpPr>
        <p:spPr>
          <a:xfrm>
            <a:off x="5294376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38" name="S2 cell 138"/>
          <p:cNvSpPr/>
          <p:nvPr/>
        </p:nvSpPr>
        <p:spPr>
          <a:xfrm>
            <a:off x="5550408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39" name="S2 cell 139"/>
          <p:cNvSpPr/>
          <p:nvPr/>
        </p:nvSpPr>
        <p:spPr>
          <a:xfrm>
            <a:off x="5806440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40" name="S2 cell 140"/>
          <p:cNvSpPr/>
          <p:nvPr/>
        </p:nvSpPr>
        <p:spPr>
          <a:xfrm>
            <a:off x="6062472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41" name="excluded cell 141"/>
          <p:cNvSpPr/>
          <p:nvPr/>
        </p:nvSpPr>
        <p:spPr>
          <a:xfrm>
            <a:off x="6318504" y="3767328"/>
            <a:ext cx="219456" cy="219456"/>
          </a:xfrm>
          <a:prstGeom prst="rect">
            <a:avLst/>
          </a:prstGeom>
          <a:pattFill prst="wdUpDiag">
            <a:fgClr>
              <a:srgbClr val="D95926"/>
            </a:fgClr>
            <a:bgClr>
              <a:srgbClr val="F6D6C9"/>
            </a:bgClr>
          </a:pattFill>
          <a:ln w="6350">
            <a:solidFill>
              <a:srgbClr val="D95926"/>
            </a:solidFill>
          </a:ln>
        </p:spPr>
      </p:sp>
      <p:sp>
        <p:nvSpPr>
          <p:cNvPr id="142" name="S2 cell 142"/>
          <p:cNvSpPr/>
          <p:nvPr/>
        </p:nvSpPr>
        <p:spPr>
          <a:xfrm>
            <a:off x="6574536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43" name="S2 cell 143"/>
          <p:cNvSpPr/>
          <p:nvPr/>
        </p:nvSpPr>
        <p:spPr>
          <a:xfrm>
            <a:off x="6830568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44" name="S2 cell 144"/>
          <p:cNvSpPr/>
          <p:nvPr/>
        </p:nvSpPr>
        <p:spPr>
          <a:xfrm>
            <a:off x="7086600" y="3767328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45" name="row label 145"/>
          <p:cNvSpPr txBox="1"/>
          <p:nvPr/>
        </p:nvSpPr>
        <p:spPr>
          <a:xfrm>
            <a:off x="457200" y="3968496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RN + laws</a:t>
            </a:r>
            <a:endParaRPr lang="en-US" sz="1100" dirty="0"/>
          </a:p>
        </p:txBody>
      </p:sp>
      <p:sp>
        <p:nvSpPr>
          <p:cNvPr id="146" name="S1 cell 146"/>
          <p:cNvSpPr/>
          <p:nvPr/>
        </p:nvSpPr>
        <p:spPr>
          <a:xfrm>
            <a:off x="2532888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47" name="S1 cell 147"/>
          <p:cNvSpPr/>
          <p:nvPr/>
        </p:nvSpPr>
        <p:spPr>
          <a:xfrm>
            <a:off x="2788920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48" name="S1 cell 148"/>
          <p:cNvSpPr/>
          <p:nvPr/>
        </p:nvSpPr>
        <p:spPr>
          <a:xfrm>
            <a:off x="3044952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49" name="S1 cell 149"/>
          <p:cNvSpPr/>
          <p:nvPr/>
        </p:nvSpPr>
        <p:spPr>
          <a:xfrm>
            <a:off x="3300984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0" name="S1 cell 150"/>
          <p:cNvSpPr/>
          <p:nvPr/>
        </p:nvSpPr>
        <p:spPr>
          <a:xfrm>
            <a:off x="3557016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1" name="S1 cell 151"/>
          <p:cNvSpPr/>
          <p:nvPr/>
        </p:nvSpPr>
        <p:spPr>
          <a:xfrm>
            <a:off x="3813048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2" name="S1 cell 152"/>
          <p:cNvSpPr/>
          <p:nvPr/>
        </p:nvSpPr>
        <p:spPr>
          <a:xfrm>
            <a:off x="4069080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3" name="S1 cell 153"/>
          <p:cNvSpPr/>
          <p:nvPr/>
        </p:nvSpPr>
        <p:spPr>
          <a:xfrm>
            <a:off x="4325112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4" name="S1 cell 154"/>
          <p:cNvSpPr/>
          <p:nvPr/>
        </p:nvSpPr>
        <p:spPr>
          <a:xfrm>
            <a:off x="4581144" y="4023360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55" name="excluded cell 155"/>
          <p:cNvSpPr/>
          <p:nvPr/>
        </p:nvSpPr>
        <p:spPr>
          <a:xfrm>
            <a:off x="4837176" y="4023360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156" name="S2 cell 156"/>
          <p:cNvSpPr/>
          <p:nvPr/>
        </p:nvSpPr>
        <p:spPr>
          <a:xfrm>
            <a:off x="5294376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57" name="S2 cell 157"/>
          <p:cNvSpPr/>
          <p:nvPr/>
        </p:nvSpPr>
        <p:spPr>
          <a:xfrm>
            <a:off x="5550408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58" name="S2 cell 158"/>
          <p:cNvSpPr/>
          <p:nvPr/>
        </p:nvSpPr>
        <p:spPr>
          <a:xfrm>
            <a:off x="5806440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59" name="S2 cell 159"/>
          <p:cNvSpPr/>
          <p:nvPr/>
        </p:nvSpPr>
        <p:spPr>
          <a:xfrm>
            <a:off x="6062472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60" name="excluded cell 160"/>
          <p:cNvSpPr/>
          <p:nvPr/>
        </p:nvSpPr>
        <p:spPr>
          <a:xfrm>
            <a:off x="6318504" y="4023360"/>
            <a:ext cx="219456" cy="219456"/>
          </a:xfrm>
          <a:prstGeom prst="rect">
            <a:avLst/>
          </a:prstGeom>
          <a:pattFill prst="wdUpDiag">
            <a:fgClr>
              <a:srgbClr val="D95926"/>
            </a:fgClr>
            <a:bgClr>
              <a:srgbClr val="F6D6C9"/>
            </a:bgClr>
          </a:pattFill>
          <a:ln w="6350">
            <a:solidFill>
              <a:srgbClr val="D95926"/>
            </a:solidFill>
          </a:ln>
        </p:spPr>
      </p:sp>
      <p:sp>
        <p:nvSpPr>
          <p:cNvPr id="161" name="S2 cell 161"/>
          <p:cNvSpPr/>
          <p:nvPr/>
        </p:nvSpPr>
        <p:spPr>
          <a:xfrm>
            <a:off x="6574536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62" name="S2 cell 162"/>
          <p:cNvSpPr/>
          <p:nvPr/>
        </p:nvSpPr>
        <p:spPr>
          <a:xfrm>
            <a:off x="6830568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63" name="S2 cell 163"/>
          <p:cNvSpPr/>
          <p:nvPr/>
        </p:nvSpPr>
        <p:spPr>
          <a:xfrm>
            <a:off x="7086600" y="4023360"/>
            <a:ext cx="219456" cy="219456"/>
          </a:xfrm>
          <a:prstGeom prst="rect">
            <a:avLst/>
          </a:prstGeom>
          <a:solidFill>
            <a:srgbClr val="D95926"/>
          </a:solidFill>
          <a:ln>
            <a:noFill/>
          </a:ln>
        </p:spPr>
      </p:sp>
      <p:sp>
        <p:nvSpPr>
          <p:cNvPr id="164" name="row label 164"/>
          <p:cNvSpPr txBox="1"/>
          <p:nvPr/>
        </p:nvSpPr>
        <p:spPr>
          <a:xfrm>
            <a:off x="457200" y="4224528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Laws (no mem.)</a:t>
            </a:r>
            <a:endParaRPr lang="en-US" sz="1100" dirty="0"/>
          </a:p>
        </p:txBody>
      </p:sp>
      <p:sp>
        <p:nvSpPr>
          <p:cNvPr id="165" name="S1 cell 165"/>
          <p:cNvSpPr/>
          <p:nvPr/>
        </p:nvSpPr>
        <p:spPr>
          <a:xfrm>
            <a:off x="2532888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66" name="S1 cell 166"/>
          <p:cNvSpPr/>
          <p:nvPr/>
        </p:nvSpPr>
        <p:spPr>
          <a:xfrm>
            <a:off x="2788920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67" name="S1 cell 167"/>
          <p:cNvSpPr/>
          <p:nvPr/>
        </p:nvSpPr>
        <p:spPr>
          <a:xfrm>
            <a:off x="3044952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68" name="S1 cell 168"/>
          <p:cNvSpPr/>
          <p:nvPr/>
        </p:nvSpPr>
        <p:spPr>
          <a:xfrm>
            <a:off x="3300984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69" name="S1 cell 169"/>
          <p:cNvSpPr/>
          <p:nvPr/>
        </p:nvSpPr>
        <p:spPr>
          <a:xfrm>
            <a:off x="3557016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0" name="S1 cell 170"/>
          <p:cNvSpPr/>
          <p:nvPr/>
        </p:nvSpPr>
        <p:spPr>
          <a:xfrm>
            <a:off x="3813048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1" name="S1 cell 171"/>
          <p:cNvSpPr/>
          <p:nvPr/>
        </p:nvSpPr>
        <p:spPr>
          <a:xfrm>
            <a:off x="4069080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2" name="S1 cell 172"/>
          <p:cNvSpPr/>
          <p:nvPr/>
        </p:nvSpPr>
        <p:spPr>
          <a:xfrm>
            <a:off x="4325112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3" name="S1 cell 173"/>
          <p:cNvSpPr/>
          <p:nvPr/>
        </p:nvSpPr>
        <p:spPr>
          <a:xfrm>
            <a:off x="4581144" y="4279392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74" name="excluded cell 174"/>
          <p:cNvSpPr/>
          <p:nvPr/>
        </p:nvSpPr>
        <p:spPr>
          <a:xfrm>
            <a:off x="4837176" y="4279392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175" name="empty cell 175"/>
          <p:cNvSpPr/>
          <p:nvPr/>
        </p:nvSpPr>
        <p:spPr>
          <a:xfrm>
            <a:off x="5294376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76" name="empty cell 176"/>
          <p:cNvSpPr/>
          <p:nvPr/>
        </p:nvSpPr>
        <p:spPr>
          <a:xfrm>
            <a:off x="5550408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77" name="empty cell 177"/>
          <p:cNvSpPr/>
          <p:nvPr/>
        </p:nvSpPr>
        <p:spPr>
          <a:xfrm>
            <a:off x="5806440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78" name="empty cell 178"/>
          <p:cNvSpPr/>
          <p:nvPr/>
        </p:nvSpPr>
        <p:spPr>
          <a:xfrm>
            <a:off x="6062472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79" name="empty cell 179"/>
          <p:cNvSpPr/>
          <p:nvPr/>
        </p:nvSpPr>
        <p:spPr>
          <a:xfrm>
            <a:off x="6318504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80" name="empty cell 180"/>
          <p:cNvSpPr/>
          <p:nvPr/>
        </p:nvSpPr>
        <p:spPr>
          <a:xfrm>
            <a:off x="6574536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81" name="empty cell 181"/>
          <p:cNvSpPr/>
          <p:nvPr/>
        </p:nvSpPr>
        <p:spPr>
          <a:xfrm>
            <a:off x="6830568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82" name="empty cell 182"/>
          <p:cNvSpPr/>
          <p:nvPr/>
        </p:nvSpPr>
        <p:spPr>
          <a:xfrm>
            <a:off x="7086600" y="4279392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83" name="row label 183"/>
          <p:cNvSpPr txBox="1"/>
          <p:nvPr/>
        </p:nvSpPr>
        <p:spPr>
          <a:xfrm>
            <a:off x="457200" y="4480560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Stats (no mem.)</a:t>
            </a:r>
            <a:endParaRPr lang="en-US" sz="1100" dirty="0"/>
          </a:p>
        </p:txBody>
      </p:sp>
      <p:sp>
        <p:nvSpPr>
          <p:cNvPr id="184" name="S1 cell 184"/>
          <p:cNvSpPr/>
          <p:nvPr/>
        </p:nvSpPr>
        <p:spPr>
          <a:xfrm>
            <a:off x="2532888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5" name="S1 cell 185"/>
          <p:cNvSpPr/>
          <p:nvPr/>
        </p:nvSpPr>
        <p:spPr>
          <a:xfrm>
            <a:off x="2788920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6" name="S1 cell 186"/>
          <p:cNvSpPr/>
          <p:nvPr/>
        </p:nvSpPr>
        <p:spPr>
          <a:xfrm>
            <a:off x="3044952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7" name="S1 cell 187"/>
          <p:cNvSpPr/>
          <p:nvPr/>
        </p:nvSpPr>
        <p:spPr>
          <a:xfrm>
            <a:off x="3300984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8" name="S1 cell 188"/>
          <p:cNvSpPr/>
          <p:nvPr/>
        </p:nvSpPr>
        <p:spPr>
          <a:xfrm>
            <a:off x="3557016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89" name="S1 cell 189"/>
          <p:cNvSpPr/>
          <p:nvPr/>
        </p:nvSpPr>
        <p:spPr>
          <a:xfrm>
            <a:off x="3813048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90" name="S1 cell 190"/>
          <p:cNvSpPr/>
          <p:nvPr/>
        </p:nvSpPr>
        <p:spPr>
          <a:xfrm>
            <a:off x="4069080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91" name="S1 cell 191"/>
          <p:cNvSpPr/>
          <p:nvPr/>
        </p:nvSpPr>
        <p:spPr>
          <a:xfrm>
            <a:off x="4325112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92" name="S1 cell 192"/>
          <p:cNvSpPr/>
          <p:nvPr/>
        </p:nvSpPr>
        <p:spPr>
          <a:xfrm>
            <a:off x="4581144" y="4535424"/>
            <a:ext cx="219456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193" name="excluded cell 193"/>
          <p:cNvSpPr/>
          <p:nvPr/>
        </p:nvSpPr>
        <p:spPr>
          <a:xfrm>
            <a:off x="4837176" y="4535424"/>
            <a:ext cx="219456" cy="219456"/>
          </a:xfrm>
          <a:prstGeom prst="rect">
            <a:avLst/>
          </a:prstGeom>
          <a:pattFill prst="wdUpDiag">
            <a:fgClr>
              <a:srgbClr val="256ABF"/>
            </a:fgClr>
            <a:bgClr>
              <a:srgbClr val="C8DAEF"/>
            </a:bgClr>
          </a:pattFill>
          <a:ln w="6350">
            <a:solidFill>
              <a:srgbClr val="256ABF"/>
            </a:solidFill>
          </a:ln>
        </p:spPr>
      </p:sp>
      <p:sp>
        <p:nvSpPr>
          <p:cNvPr id="194" name="empty cell 194"/>
          <p:cNvSpPr/>
          <p:nvPr/>
        </p:nvSpPr>
        <p:spPr>
          <a:xfrm>
            <a:off x="5294376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95" name="empty cell 195"/>
          <p:cNvSpPr/>
          <p:nvPr/>
        </p:nvSpPr>
        <p:spPr>
          <a:xfrm>
            <a:off x="5550408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96" name="empty cell 196"/>
          <p:cNvSpPr/>
          <p:nvPr/>
        </p:nvSpPr>
        <p:spPr>
          <a:xfrm>
            <a:off x="5806440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97" name="empty cell 197"/>
          <p:cNvSpPr/>
          <p:nvPr/>
        </p:nvSpPr>
        <p:spPr>
          <a:xfrm>
            <a:off x="6062472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98" name="empty cell 198"/>
          <p:cNvSpPr/>
          <p:nvPr/>
        </p:nvSpPr>
        <p:spPr>
          <a:xfrm>
            <a:off x="6318504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199" name="empty cell 199"/>
          <p:cNvSpPr/>
          <p:nvPr/>
        </p:nvSpPr>
        <p:spPr>
          <a:xfrm>
            <a:off x="6574536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00" name="empty cell 200"/>
          <p:cNvSpPr/>
          <p:nvPr/>
        </p:nvSpPr>
        <p:spPr>
          <a:xfrm>
            <a:off x="6830568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01" name="empty cell 201"/>
          <p:cNvSpPr/>
          <p:nvPr/>
        </p:nvSpPr>
        <p:spPr>
          <a:xfrm>
            <a:off x="7086600" y="4535424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02" name="row label 202"/>
          <p:cNvSpPr txBox="1"/>
          <p:nvPr/>
        </p:nvSpPr>
        <p:spPr>
          <a:xfrm>
            <a:off x="457200" y="4882896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17 WHAR Arena networks</a:t>
            </a:r>
            <a:endParaRPr lang="en-US" sz="1100" dirty="0"/>
          </a:p>
        </p:txBody>
      </p:sp>
      <p:sp>
        <p:nvSpPr>
          <p:cNvPr id="203" name="S3 cell 203"/>
          <p:cNvSpPr/>
          <p:nvPr/>
        </p:nvSpPr>
        <p:spPr>
          <a:xfrm>
            <a:off x="2532888" y="4937760"/>
            <a:ext cx="219456" cy="219456"/>
          </a:xfrm>
          <a:prstGeom prst="rect">
            <a:avLst/>
          </a:prstGeom>
          <a:solidFill>
            <a:srgbClr val="199E70"/>
          </a:solidFill>
          <a:ln>
            <a:noFill/>
          </a:ln>
        </p:spPr>
      </p:sp>
      <p:sp>
        <p:nvSpPr>
          <p:cNvPr id="204" name="S3 cell 204"/>
          <p:cNvSpPr/>
          <p:nvPr/>
        </p:nvSpPr>
        <p:spPr>
          <a:xfrm>
            <a:off x="2788920" y="4937760"/>
            <a:ext cx="219456" cy="219456"/>
          </a:xfrm>
          <a:prstGeom prst="rect">
            <a:avLst/>
          </a:prstGeom>
          <a:solidFill>
            <a:srgbClr val="199E70"/>
          </a:solidFill>
          <a:ln>
            <a:noFill/>
          </a:ln>
        </p:spPr>
      </p:sp>
      <p:sp>
        <p:nvSpPr>
          <p:cNvPr id="205" name="S3 cell 205"/>
          <p:cNvSpPr/>
          <p:nvPr/>
        </p:nvSpPr>
        <p:spPr>
          <a:xfrm>
            <a:off x="3044952" y="4937760"/>
            <a:ext cx="219456" cy="219456"/>
          </a:xfrm>
          <a:prstGeom prst="rect">
            <a:avLst/>
          </a:prstGeom>
          <a:solidFill>
            <a:srgbClr val="199E70"/>
          </a:solidFill>
          <a:ln>
            <a:noFill/>
          </a:ln>
        </p:spPr>
      </p:sp>
      <p:sp>
        <p:nvSpPr>
          <p:cNvPr id="206" name="S3 cell 206"/>
          <p:cNvSpPr/>
          <p:nvPr/>
        </p:nvSpPr>
        <p:spPr>
          <a:xfrm>
            <a:off x="3300984" y="4937760"/>
            <a:ext cx="219456" cy="219456"/>
          </a:xfrm>
          <a:prstGeom prst="rect">
            <a:avLst/>
          </a:prstGeom>
          <a:solidFill>
            <a:srgbClr val="199E70"/>
          </a:solidFill>
          <a:ln>
            <a:noFill/>
          </a:ln>
        </p:spPr>
      </p:sp>
      <p:sp>
        <p:nvSpPr>
          <p:cNvPr id="207" name="empty cell 207"/>
          <p:cNvSpPr/>
          <p:nvPr/>
        </p:nvSpPr>
        <p:spPr>
          <a:xfrm>
            <a:off x="3557016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08" name="empty cell 208"/>
          <p:cNvSpPr/>
          <p:nvPr/>
        </p:nvSpPr>
        <p:spPr>
          <a:xfrm>
            <a:off x="3813048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09" name="empty cell 209"/>
          <p:cNvSpPr/>
          <p:nvPr/>
        </p:nvSpPr>
        <p:spPr>
          <a:xfrm>
            <a:off x="4069080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0" name="empty cell 210"/>
          <p:cNvSpPr/>
          <p:nvPr/>
        </p:nvSpPr>
        <p:spPr>
          <a:xfrm>
            <a:off x="4325112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1" name="empty cell 211"/>
          <p:cNvSpPr/>
          <p:nvPr/>
        </p:nvSpPr>
        <p:spPr>
          <a:xfrm>
            <a:off x="4581144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2" name="empty cell 212"/>
          <p:cNvSpPr/>
          <p:nvPr/>
        </p:nvSpPr>
        <p:spPr>
          <a:xfrm>
            <a:off x="4837176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3" name="empty cell 213"/>
          <p:cNvSpPr/>
          <p:nvPr/>
        </p:nvSpPr>
        <p:spPr>
          <a:xfrm>
            <a:off x="5294376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4" name="empty cell 214"/>
          <p:cNvSpPr/>
          <p:nvPr/>
        </p:nvSpPr>
        <p:spPr>
          <a:xfrm>
            <a:off x="5550408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5" name="empty cell 215"/>
          <p:cNvSpPr/>
          <p:nvPr/>
        </p:nvSpPr>
        <p:spPr>
          <a:xfrm>
            <a:off x="5806440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6" name="empty cell 216"/>
          <p:cNvSpPr/>
          <p:nvPr/>
        </p:nvSpPr>
        <p:spPr>
          <a:xfrm>
            <a:off x="6062472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7" name="empty cell 217"/>
          <p:cNvSpPr/>
          <p:nvPr/>
        </p:nvSpPr>
        <p:spPr>
          <a:xfrm>
            <a:off x="6318504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8" name="empty cell 218"/>
          <p:cNvSpPr/>
          <p:nvPr/>
        </p:nvSpPr>
        <p:spPr>
          <a:xfrm>
            <a:off x="6574536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19" name="empty cell 219"/>
          <p:cNvSpPr/>
          <p:nvPr/>
        </p:nvSpPr>
        <p:spPr>
          <a:xfrm>
            <a:off x="6830568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sp>
        <p:nvSpPr>
          <p:cNvPr id="220" name="empty cell 220"/>
          <p:cNvSpPr/>
          <p:nvPr/>
        </p:nvSpPr>
        <p:spPr>
          <a:xfrm>
            <a:off x="7086600" y="4937760"/>
            <a:ext cx="219456" cy="219456"/>
          </a:xfrm>
          <a:prstGeom prst="rect">
            <a:avLst/>
          </a:prstGeom>
          <a:noFill/>
          <a:ln w="6350">
            <a:solidFill>
              <a:srgbClr val="DEDCD5"/>
            </a:solidFill>
          </a:ln>
        </p:spPr>
      </p:sp>
      <p:cxnSp>
        <p:nvCxnSpPr>
          <p:cNvPr id="221" name="group rule 221"/>
          <p:cNvCxnSpPr/>
          <p:nvPr/>
        </p:nvCxnSpPr>
        <p:spPr>
          <a:xfrm>
            <a:off x="2542032" y="2121408"/>
            <a:ext cx="2505456" cy="0"/>
          </a:xfrm>
          <a:prstGeom prst="line">
            <a:avLst/>
          </a:prstGeom>
          <a:ln w="12700">
            <a:solidFill>
              <a:srgbClr val="0B0B0B"/>
            </a:solidFill>
          </a:ln>
        </p:spPr>
      </p:cxnSp>
      <p:sp>
        <p:nvSpPr>
          <p:cNvPr id="222" name="group label 222"/>
          <p:cNvSpPr txBox="1"/>
          <p:nvPr/>
        </p:nvSpPr>
        <p:spPr>
          <a:xfrm>
            <a:off x="2514600" y="177393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200" b="0" i="0" dirty="0">
                <a:solidFill>
                  <a:srgbClr val="0B0B0B"/>
                </a:solidFill>
                <a:latin typeface="Arial"/>
                <a:cs typeface="Arial"/>
              </a:rPr>
              <a:t>development datasets</a:t>
            </a:r>
            <a:endParaRPr lang="en-US" sz="1200" dirty="0"/>
          </a:p>
        </p:txBody>
      </p:sp>
      <p:cxnSp>
        <p:nvCxnSpPr>
          <p:cNvPr id="223" name="group rule 223"/>
          <p:cNvCxnSpPr/>
          <p:nvPr/>
        </p:nvCxnSpPr>
        <p:spPr>
          <a:xfrm>
            <a:off x="5303520" y="2121408"/>
            <a:ext cx="1993392" cy="0"/>
          </a:xfrm>
          <a:prstGeom prst="line">
            <a:avLst/>
          </a:prstGeom>
          <a:ln w="12700">
            <a:solidFill>
              <a:srgbClr val="0B0B0B"/>
            </a:solidFill>
          </a:ln>
        </p:spPr>
      </p:cxnSp>
      <p:sp>
        <p:nvSpPr>
          <p:cNvPr id="224" name="group label 224"/>
          <p:cNvSpPr txBox="1"/>
          <p:nvPr/>
        </p:nvSpPr>
        <p:spPr>
          <a:xfrm>
            <a:off x="5276088" y="1773936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200" b="0" i="0" dirty="0">
                <a:solidFill>
                  <a:srgbClr val="0B0B0B"/>
                </a:solidFill>
                <a:latin typeface="Arial"/>
                <a:cs typeface="Arial"/>
              </a:rPr>
              <a:t>held-out datasets</a:t>
            </a:r>
            <a:endParaRPr lang="en-US" sz="1200" dirty="0"/>
          </a:p>
        </p:txBody>
      </p:sp>
      <p:sp>
        <p:nvSpPr>
          <p:cNvPr id="225" name="column label 225"/>
          <p:cNvSpPr txBox="1"/>
          <p:nvPr/>
        </p:nvSpPr>
        <p:spPr>
          <a:xfrm>
            <a:off x="2514600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UTD-MHAD</a:t>
            </a:r>
            <a:endParaRPr lang="en-US" sz="1000" dirty="0"/>
          </a:p>
        </p:txBody>
      </p:sp>
      <p:sp>
        <p:nvSpPr>
          <p:cNvPr id="226" name="column label 226"/>
          <p:cNvSpPr txBox="1"/>
          <p:nvPr/>
        </p:nvSpPr>
        <p:spPr>
          <a:xfrm>
            <a:off x="2770632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UCI-HAR</a:t>
            </a:r>
            <a:endParaRPr lang="en-US" sz="1000" dirty="0"/>
          </a:p>
        </p:txBody>
      </p:sp>
      <p:sp>
        <p:nvSpPr>
          <p:cNvPr id="227" name="column label 227"/>
          <p:cNvSpPr txBox="1"/>
          <p:nvPr/>
        </p:nvSpPr>
        <p:spPr>
          <a:xfrm>
            <a:off x="3026664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UniMiB-SHAR</a:t>
            </a:r>
            <a:endParaRPr lang="en-US" sz="1000" dirty="0"/>
          </a:p>
        </p:txBody>
      </p:sp>
      <p:sp>
        <p:nvSpPr>
          <p:cNvPr id="228" name="column label 228"/>
          <p:cNvSpPr txBox="1"/>
          <p:nvPr/>
        </p:nvSpPr>
        <p:spPr>
          <a:xfrm>
            <a:off x="3282696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ActRecTut</a:t>
            </a:r>
            <a:endParaRPr lang="en-US" sz="1000" dirty="0"/>
          </a:p>
        </p:txBody>
      </p:sp>
      <p:sp>
        <p:nvSpPr>
          <p:cNvPr id="229" name="column label 229"/>
          <p:cNvSpPr txBox="1"/>
          <p:nvPr/>
        </p:nvSpPr>
        <p:spPr>
          <a:xfrm>
            <a:off x="3538728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Opportunity</a:t>
            </a:r>
            <a:endParaRPr lang="en-US" sz="1000" dirty="0"/>
          </a:p>
        </p:txBody>
      </p:sp>
      <p:sp>
        <p:nvSpPr>
          <p:cNvPr id="230" name="column label 230"/>
          <p:cNvSpPr txBox="1"/>
          <p:nvPr/>
        </p:nvSpPr>
        <p:spPr>
          <a:xfrm>
            <a:off x="3794760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SAD</a:t>
            </a:r>
            <a:endParaRPr lang="en-US" sz="1000" dirty="0"/>
          </a:p>
        </p:txBody>
      </p:sp>
      <p:sp>
        <p:nvSpPr>
          <p:cNvPr id="231" name="column label 231"/>
          <p:cNvSpPr txBox="1"/>
          <p:nvPr/>
        </p:nvSpPr>
        <p:spPr>
          <a:xfrm>
            <a:off x="4050792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HAPT</a:t>
            </a:r>
            <a:endParaRPr lang="en-US" sz="1000" dirty="0"/>
          </a:p>
        </p:txBody>
      </p:sp>
      <p:sp>
        <p:nvSpPr>
          <p:cNvPr id="232" name="column label 232"/>
          <p:cNvSpPr txBox="1"/>
          <p:nvPr/>
        </p:nvSpPr>
        <p:spPr>
          <a:xfrm>
            <a:off x="4306824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DSADS</a:t>
            </a:r>
            <a:endParaRPr lang="en-US" sz="1000" dirty="0"/>
          </a:p>
        </p:txBody>
      </p:sp>
      <p:sp>
        <p:nvSpPr>
          <p:cNvPr id="233" name="column label 233"/>
          <p:cNvSpPr txBox="1"/>
          <p:nvPr/>
        </p:nvSpPr>
        <p:spPr>
          <a:xfrm>
            <a:off x="4562856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WISDM</a:t>
            </a:r>
            <a:endParaRPr lang="en-US" sz="1000" dirty="0"/>
          </a:p>
        </p:txBody>
      </p:sp>
      <p:sp>
        <p:nvSpPr>
          <p:cNvPr id="234" name="column label 234"/>
          <p:cNvSpPr txBox="1"/>
          <p:nvPr/>
        </p:nvSpPr>
        <p:spPr>
          <a:xfrm>
            <a:off x="4818888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Daphnet</a:t>
            </a:r>
            <a:endParaRPr lang="en-US" sz="1000" dirty="0"/>
          </a:p>
        </p:txBody>
      </p:sp>
      <p:sp>
        <p:nvSpPr>
          <p:cNvPr id="235" name="column label 235"/>
          <p:cNvSpPr txBox="1"/>
          <p:nvPr/>
        </p:nvSpPr>
        <p:spPr>
          <a:xfrm>
            <a:off x="5276088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PAMAP2</a:t>
            </a:r>
            <a:endParaRPr lang="en-US" sz="1000" dirty="0"/>
          </a:p>
        </p:txBody>
      </p:sp>
      <p:sp>
        <p:nvSpPr>
          <p:cNvPr id="236" name="column label 236"/>
          <p:cNvSpPr txBox="1"/>
          <p:nvPr/>
        </p:nvSpPr>
        <p:spPr>
          <a:xfrm>
            <a:off x="5532120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UP-Fall</a:t>
            </a:r>
            <a:endParaRPr lang="en-US" sz="1000" dirty="0"/>
          </a:p>
        </p:txBody>
      </p:sp>
      <p:sp>
        <p:nvSpPr>
          <p:cNvPr id="237" name="column label 237"/>
          <p:cNvSpPr txBox="1"/>
          <p:nvPr/>
        </p:nvSpPr>
        <p:spPr>
          <a:xfrm>
            <a:off x="5788152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UMAFall</a:t>
            </a:r>
            <a:endParaRPr lang="en-US" sz="1000" dirty="0"/>
          </a:p>
        </p:txBody>
      </p:sp>
      <p:sp>
        <p:nvSpPr>
          <p:cNvPr id="238" name="column label 238"/>
          <p:cNvSpPr txBox="1"/>
          <p:nvPr/>
        </p:nvSpPr>
        <p:spPr>
          <a:xfrm>
            <a:off x="6044184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USC-HAD</a:t>
            </a:r>
            <a:endParaRPr lang="en-US" sz="1000" dirty="0"/>
          </a:p>
        </p:txBody>
      </p:sp>
      <p:sp>
        <p:nvSpPr>
          <p:cNvPr id="239" name="column label 239"/>
          <p:cNvSpPr txBox="1"/>
          <p:nvPr/>
        </p:nvSpPr>
        <p:spPr>
          <a:xfrm>
            <a:off x="6300216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MotionSense</a:t>
            </a:r>
            <a:endParaRPr lang="en-US" sz="1000" dirty="0"/>
          </a:p>
        </p:txBody>
      </p:sp>
      <p:sp>
        <p:nvSpPr>
          <p:cNvPr id="240" name="column label 240"/>
          <p:cNvSpPr txBox="1"/>
          <p:nvPr/>
        </p:nvSpPr>
        <p:spPr>
          <a:xfrm>
            <a:off x="6556248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WEAR</a:t>
            </a:r>
            <a:endParaRPr lang="en-US" sz="1000" dirty="0"/>
          </a:p>
        </p:txBody>
      </p:sp>
      <p:sp>
        <p:nvSpPr>
          <p:cNvPr id="241" name="column label 241"/>
          <p:cNvSpPr txBox="1"/>
          <p:nvPr/>
        </p:nvSpPr>
        <p:spPr>
          <a:xfrm>
            <a:off x="6812280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UCA-EHAR</a:t>
            </a:r>
            <a:endParaRPr lang="en-US" sz="1000" dirty="0"/>
          </a:p>
        </p:txBody>
      </p:sp>
      <p:sp>
        <p:nvSpPr>
          <p:cNvPr id="242" name="column label 242"/>
          <p:cNvSpPr txBox="1"/>
          <p:nvPr/>
        </p:nvSpPr>
        <p:spPr>
          <a:xfrm>
            <a:off x="7068312" y="5221224"/>
            <a:ext cx="256032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vert="vert270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w-HAR</a:t>
            </a:r>
            <a:endParaRPr lang="en-US" sz="1000" dirty="0"/>
          </a:p>
        </p:txBody>
      </p:sp>
      <p:sp>
        <p:nvSpPr>
          <p:cNvPr id="243" name="panel b 243"/>
          <p:cNvSpPr txBox="1"/>
          <p:nvPr/>
        </p:nvSpPr>
        <p:spPr>
          <a:xfrm>
            <a:off x="8001000" y="14173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400" b="1" i="0" dirty="0">
                <a:solidFill>
                  <a:srgbClr val="0B0B0B"/>
                </a:solidFill>
                <a:latin typeface="Arial"/>
                <a:cs typeface="Arial"/>
              </a:rPr>
              <a:t>(b)</a:t>
            </a:r>
            <a:r>
              <a:rPr lang="en-US" sz="1400" b="0" i="0" dirty="0">
                <a:solidFill>
                  <a:srgbClr val="0B0B0B"/>
                </a:solidFill>
                <a:latin typeface="Arial"/>
                <a:cs typeface="Arial"/>
              </a:rPr>
              <a:t>  Person-disjoint splits, UCI-HAR</a:t>
            </a:r>
            <a:endParaRPr lang="en-US" sz="1400" dirty="0"/>
          </a:p>
        </p:txBody>
      </p:sp>
      <p:sp>
        <p:nvSpPr>
          <p:cNvPr id="244" name="legend key 244"/>
          <p:cNvSpPr/>
          <p:nvPr/>
        </p:nvSpPr>
        <p:spPr>
          <a:xfrm>
            <a:off x="8869680" y="1865376"/>
            <a:ext cx="164592" cy="164592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45" name="legend label 245"/>
          <p:cNvSpPr txBox="1"/>
          <p:nvPr/>
        </p:nvSpPr>
        <p:spPr>
          <a:xfrm>
            <a:off x="9089136" y="178308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test group</a:t>
            </a:r>
            <a:endParaRPr lang="en-US" sz="1100" dirty="0"/>
          </a:p>
        </p:txBody>
      </p:sp>
      <p:sp>
        <p:nvSpPr>
          <p:cNvPr id="246" name="legend key 246"/>
          <p:cNvSpPr/>
          <p:nvPr/>
        </p:nvSpPr>
        <p:spPr>
          <a:xfrm>
            <a:off x="10058400" y="1865376"/>
            <a:ext cx="164592" cy="164592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47" name="legend label 247"/>
          <p:cNvSpPr txBox="1"/>
          <p:nvPr/>
        </p:nvSpPr>
        <p:spPr>
          <a:xfrm>
            <a:off x="10277856" y="178308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training and validation</a:t>
            </a:r>
            <a:endParaRPr lang="en-US" sz="1100" dirty="0"/>
          </a:p>
        </p:txBody>
      </p:sp>
      <p:sp>
        <p:nvSpPr>
          <p:cNvPr id="248" name="split label 248"/>
          <p:cNvSpPr txBox="1"/>
          <p:nvPr/>
        </p:nvSpPr>
        <p:spPr>
          <a:xfrm>
            <a:off x="8001000" y="217627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0</a:t>
            </a:r>
            <a:endParaRPr lang="en-US" sz="1000" dirty="0"/>
          </a:p>
        </p:txBody>
      </p:sp>
      <p:sp>
        <p:nvSpPr>
          <p:cNvPr id="249" name="subject cell 249"/>
          <p:cNvSpPr/>
          <p:nvPr/>
        </p:nvSpPr>
        <p:spPr>
          <a:xfrm>
            <a:off x="8467344" y="223113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50" name="subject cell 250"/>
          <p:cNvSpPr/>
          <p:nvPr/>
        </p:nvSpPr>
        <p:spPr>
          <a:xfrm>
            <a:off x="857707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1" name="subject cell 251"/>
          <p:cNvSpPr/>
          <p:nvPr/>
        </p:nvSpPr>
        <p:spPr>
          <a:xfrm>
            <a:off x="868680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2" name="subject cell 252"/>
          <p:cNvSpPr/>
          <p:nvPr/>
        </p:nvSpPr>
        <p:spPr>
          <a:xfrm>
            <a:off x="879652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3" name="subject cell 253"/>
          <p:cNvSpPr/>
          <p:nvPr/>
        </p:nvSpPr>
        <p:spPr>
          <a:xfrm>
            <a:off x="890625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4" name="subject cell 254"/>
          <p:cNvSpPr/>
          <p:nvPr/>
        </p:nvSpPr>
        <p:spPr>
          <a:xfrm>
            <a:off x="9015984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5" name="subject cell 255"/>
          <p:cNvSpPr/>
          <p:nvPr/>
        </p:nvSpPr>
        <p:spPr>
          <a:xfrm>
            <a:off x="912571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6" name="subject cell 256"/>
          <p:cNvSpPr/>
          <p:nvPr/>
        </p:nvSpPr>
        <p:spPr>
          <a:xfrm>
            <a:off x="923544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7" name="subject cell 257"/>
          <p:cNvSpPr/>
          <p:nvPr/>
        </p:nvSpPr>
        <p:spPr>
          <a:xfrm>
            <a:off x="934516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8" name="subject cell 258"/>
          <p:cNvSpPr/>
          <p:nvPr/>
        </p:nvSpPr>
        <p:spPr>
          <a:xfrm>
            <a:off x="945489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59" name="subject cell 259"/>
          <p:cNvSpPr/>
          <p:nvPr/>
        </p:nvSpPr>
        <p:spPr>
          <a:xfrm>
            <a:off x="9564624" y="223113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60" name="subject cell 260"/>
          <p:cNvSpPr/>
          <p:nvPr/>
        </p:nvSpPr>
        <p:spPr>
          <a:xfrm>
            <a:off x="967435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1" name="subject cell 261"/>
          <p:cNvSpPr/>
          <p:nvPr/>
        </p:nvSpPr>
        <p:spPr>
          <a:xfrm>
            <a:off x="978408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2" name="subject cell 262"/>
          <p:cNvSpPr/>
          <p:nvPr/>
        </p:nvSpPr>
        <p:spPr>
          <a:xfrm>
            <a:off x="989380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3" name="subject cell 263"/>
          <p:cNvSpPr/>
          <p:nvPr/>
        </p:nvSpPr>
        <p:spPr>
          <a:xfrm>
            <a:off x="1000353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4" name="subject cell 264"/>
          <p:cNvSpPr/>
          <p:nvPr/>
        </p:nvSpPr>
        <p:spPr>
          <a:xfrm>
            <a:off x="10113264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5" name="subject cell 265"/>
          <p:cNvSpPr/>
          <p:nvPr/>
        </p:nvSpPr>
        <p:spPr>
          <a:xfrm>
            <a:off x="1022299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6" name="subject cell 266"/>
          <p:cNvSpPr/>
          <p:nvPr/>
        </p:nvSpPr>
        <p:spPr>
          <a:xfrm>
            <a:off x="1033272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7" name="subject cell 267"/>
          <p:cNvSpPr/>
          <p:nvPr/>
        </p:nvSpPr>
        <p:spPr>
          <a:xfrm>
            <a:off x="1044244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8" name="subject cell 268"/>
          <p:cNvSpPr/>
          <p:nvPr/>
        </p:nvSpPr>
        <p:spPr>
          <a:xfrm>
            <a:off x="1055217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69" name="subject cell 269"/>
          <p:cNvSpPr/>
          <p:nvPr/>
        </p:nvSpPr>
        <p:spPr>
          <a:xfrm>
            <a:off x="10661904" y="223113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70" name="subject cell 270"/>
          <p:cNvSpPr/>
          <p:nvPr/>
        </p:nvSpPr>
        <p:spPr>
          <a:xfrm>
            <a:off x="1077163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1" name="subject cell 271"/>
          <p:cNvSpPr/>
          <p:nvPr/>
        </p:nvSpPr>
        <p:spPr>
          <a:xfrm>
            <a:off x="1088136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2" name="subject cell 272"/>
          <p:cNvSpPr/>
          <p:nvPr/>
        </p:nvSpPr>
        <p:spPr>
          <a:xfrm>
            <a:off x="1099108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3" name="subject cell 273"/>
          <p:cNvSpPr/>
          <p:nvPr/>
        </p:nvSpPr>
        <p:spPr>
          <a:xfrm>
            <a:off x="1110081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4" name="subject cell 274"/>
          <p:cNvSpPr/>
          <p:nvPr/>
        </p:nvSpPr>
        <p:spPr>
          <a:xfrm>
            <a:off x="11210544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5" name="subject cell 275"/>
          <p:cNvSpPr/>
          <p:nvPr/>
        </p:nvSpPr>
        <p:spPr>
          <a:xfrm>
            <a:off x="11320272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6" name="subject cell 276"/>
          <p:cNvSpPr/>
          <p:nvPr/>
        </p:nvSpPr>
        <p:spPr>
          <a:xfrm>
            <a:off x="11430000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7" name="subject cell 277"/>
          <p:cNvSpPr/>
          <p:nvPr/>
        </p:nvSpPr>
        <p:spPr>
          <a:xfrm>
            <a:off x="11539728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8" name="subject cell 278"/>
          <p:cNvSpPr/>
          <p:nvPr/>
        </p:nvSpPr>
        <p:spPr>
          <a:xfrm>
            <a:off x="11649456" y="223113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79" name="split label 279"/>
          <p:cNvSpPr txBox="1"/>
          <p:nvPr/>
        </p:nvSpPr>
        <p:spPr>
          <a:xfrm>
            <a:off x="8001000" y="243230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1</a:t>
            </a:r>
            <a:endParaRPr lang="en-US" sz="1000" dirty="0"/>
          </a:p>
        </p:txBody>
      </p:sp>
      <p:sp>
        <p:nvSpPr>
          <p:cNvPr id="280" name="subject cell 280"/>
          <p:cNvSpPr/>
          <p:nvPr/>
        </p:nvSpPr>
        <p:spPr>
          <a:xfrm>
            <a:off x="846734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1" name="subject cell 281"/>
          <p:cNvSpPr/>
          <p:nvPr/>
        </p:nvSpPr>
        <p:spPr>
          <a:xfrm>
            <a:off x="8577072" y="248716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82" name="subject cell 282"/>
          <p:cNvSpPr/>
          <p:nvPr/>
        </p:nvSpPr>
        <p:spPr>
          <a:xfrm>
            <a:off x="868680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3" name="subject cell 283"/>
          <p:cNvSpPr/>
          <p:nvPr/>
        </p:nvSpPr>
        <p:spPr>
          <a:xfrm>
            <a:off x="879652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4" name="subject cell 284"/>
          <p:cNvSpPr/>
          <p:nvPr/>
        </p:nvSpPr>
        <p:spPr>
          <a:xfrm>
            <a:off x="890625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5" name="subject cell 285"/>
          <p:cNvSpPr/>
          <p:nvPr/>
        </p:nvSpPr>
        <p:spPr>
          <a:xfrm>
            <a:off x="901598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6" name="subject cell 286"/>
          <p:cNvSpPr/>
          <p:nvPr/>
        </p:nvSpPr>
        <p:spPr>
          <a:xfrm>
            <a:off x="9125712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7" name="subject cell 287"/>
          <p:cNvSpPr/>
          <p:nvPr/>
        </p:nvSpPr>
        <p:spPr>
          <a:xfrm>
            <a:off x="923544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8" name="subject cell 288"/>
          <p:cNvSpPr/>
          <p:nvPr/>
        </p:nvSpPr>
        <p:spPr>
          <a:xfrm>
            <a:off x="934516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89" name="subject cell 289"/>
          <p:cNvSpPr/>
          <p:nvPr/>
        </p:nvSpPr>
        <p:spPr>
          <a:xfrm>
            <a:off x="945489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0" name="subject cell 290"/>
          <p:cNvSpPr/>
          <p:nvPr/>
        </p:nvSpPr>
        <p:spPr>
          <a:xfrm>
            <a:off x="956462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1" name="subject cell 291"/>
          <p:cNvSpPr/>
          <p:nvPr/>
        </p:nvSpPr>
        <p:spPr>
          <a:xfrm>
            <a:off x="9674352" y="248716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292" name="subject cell 292"/>
          <p:cNvSpPr/>
          <p:nvPr/>
        </p:nvSpPr>
        <p:spPr>
          <a:xfrm>
            <a:off x="978408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3" name="subject cell 293"/>
          <p:cNvSpPr/>
          <p:nvPr/>
        </p:nvSpPr>
        <p:spPr>
          <a:xfrm>
            <a:off x="989380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4" name="subject cell 294"/>
          <p:cNvSpPr/>
          <p:nvPr/>
        </p:nvSpPr>
        <p:spPr>
          <a:xfrm>
            <a:off x="1000353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5" name="subject cell 295"/>
          <p:cNvSpPr/>
          <p:nvPr/>
        </p:nvSpPr>
        <p:spPr>
          <a:xfrm>
            <a:off x="1011326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6" name="subject cell 296"/>
          <p:cNvSpPr/>
          <p:nvPr/>
        </p:nvSpPr>
        <p:spPr>
          <a:xfrm>
            <a:off x="10222992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7" name="subject cell 297"/>
          <p:cNvSpPr/>
          <p:nvPr/>
        </p:nvSpPr>
        <p:spPr>
          <a:xfrm>
            <a:off x="1033272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8" name="subject cell 298"/>
          <p:cNvSpPr/>
          <p:nvPr/>
        </p:nvSpPr>
        <p:spPr>
          <a:xfrm>
            <a:off x="1044244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299" name="subject cell 299"/>
          <p:cNvSpPr/>
          <p:nvPr/>
        </p:nvSpPr>
        <p:spPr>
          <a:xfrm>
            <a:off x="1055217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0" name="subject cell 300"/>
          <p:cNvSpPr/>
          <p:nvPr/>
        </p:nvSpPr>
        <p:spPr>
          <a:xfrm>
            <a:off x="1066190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1" name="subject cell 301"/>
          <p:cNvSpPr/>
          <p:nvPr/>
        </p:nvSpPr>
        <p:spPr>
          <a:xfrm>
            <a:off x="10771632" y="248716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02" name="subject cell 302"/>
          <p:cNvSpPr/>
          <p:nvPr/>
        </p:nvSpPr>
        <p:spPr>
          <a:xfrm>
            <a:off x="1088136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3" name="subject cell 303"/>
          <p:cNvSpPr/>
          <p:nvPr/>
        </p:nvSpPr>
        <p:spPr>
          <a:xfrm>
            <a:off x="1099108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4" name="subject cell 304"/>
          <p:cNvSpPr/>
          <p:nvPr/>
        </p:nvSpPr>
        <p:spPr>
          <a:xfrm>
            <a:off x="1110081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5" name="subject cell 305"/>
          <p:cNvSpPr/>
          <p:nvPr/>
        </p:nvSpPr>
        <p:spPr>
          <a:xfrm>
            <a:off x="11210544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6" name="subject cell 306"/>
          <p:cNvSpPr/>
          <p:nvPr/>
        </p:nvSpPr>
        <p:spPr>
          <a:xfrm>
            <a:off x="11320272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7" name="subject cell 307"/>
          <p:cNvSpPr/>
          <p:nvPr/>
        </p:nvSpPr>
        <p:spPr>
          <a:xfrm>
            <a:off x="11430000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8" name="subject cell 308"/>
          <p:cNvSpPr/>
          <p:nvPr/>
        </p:nvSpPr>
        <p:spPr>
          <a:xfrm>
            <a:off x="11539728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09" name="subject cell 309"/>
          <p:cNvSpPr/>
          <p:nvPr/>
        </p:nvSpPr>
        <p:spPr>
          <a:xfrm>
            <a:off x="11649456" y="248716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0" name="split label 310"/>
          <p:cNvSpPr txBox="1"/>
          <p:nvPr/>
        </p:nvSpPr>
        <p:spPr>
          <a:xfrm>
            <a:off x="8001000" y="268833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2</a:t>
            </a:r>
            <a:endParaRPr lang="en-US" sz="1000" dirty="0"/>
          </a:p>
        </p:txBody>
      </p:sp>
      <p:sp>
        <p:nvSpPr>
          <p:cNvPr id="311" name="subject cell 311"/>
          <p:cNvSpPr/>
          <p:nvPr/>
        </p:nvSpPr>
        <p:spPr>
          <a:xfrm>
            <a:off x="846734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2" name="subject cell 312"/>
          <p:cNvSpPr/>
          <p:nvPr/>
        </p:nvSpPr>
        <p:spPr>
          <a:xfrm>
            <a:off x="857707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3" name="subject cell 313"/>
          <p:cNvSpPr/>
          <p:nvPr/>
        </p:nvSpPr>
        <p:spPr>
          <a:xfrm>
            <a:off x="8686800" y="274320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14" name="subject cell 314"/>
          <p:cNvSpPr/>
          <p:nvPr/>
        </p:nvSpPr>
        <p:spPr>
          <a:xfrm>
            <a:off x="879652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5" name="subject cell 315"/>
          <p:cNvSpPr/>
          <p:nvPr/>
        </p:nvSpPr>
        <p:spPr>
          <a:xfrm>
            <a:off x="890625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6" name="subject cell 316"/>
          <p:cNvSpPr/>
          <p:nvPr/>
        </p:nvSpPr>
        <p:spPr>
          <a:xfrm>
            <a:off x="901598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7" name="subject cell 317"/>
          <p:cNvSpPr/>
          <p:nvPr/>
        </p:nvSpPr>
        <p:spPr>
          <a:xfrm>
            <a:off x="912571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8" name="subject cell 318"/>
          <p:cNvSpPr/>
          <p:nvPr/>
        </p:nvSpPr>
        <p:spPr>
          <a:xfrm>
            <a:off x="9235440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19" name="subject cell 319"/>
          <p:cNvSpPr/>
          <p:nvPr/>
        </p:nvSpPr>
        <p:spPr>
          <a:xfrm>
            <a:off x="934516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0" name="subject cell 320"/>
          <p:cNvSpPr/>
          <p:nvPr/>
        </p:nvSpPr>
        <p:spPr>
          <a:xfrm>
            <a:off x="945489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1" name="subject cell 321"/>
          <p:cNvSpPr/>
          <p:nvPr/>
        </p:nvSpPr>
        <p:spPr>
          <a:xfrm>
            <a:off x="956462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2" name="subject cell 322"/>
          <p:cNvSpPr/>
          <p:nvPr/>
        </p:nvSpPr>
        <p:spPr>
          <a:xfrm>
            <a:off x="967435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3" name="subject cell 323"/>
          <p:cNvSpPr/>
          <p:nvPr/>
        </p:nvSpPr>
        <p:spPr>
          <a:xfrm>
            <a:off x="9784080" y="274320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24" name="subject cell 324"/>
          <p:cNvSpPr/>
          <p:nvPr/>
        </p:nvSpPr>
        <p:spPr>
          <a:xfrm>
            <a:off x="989380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5" name="subject cell 325"/>
          <p:cNvSpPr/>
          <p:nvPr/>
        </p:nvSpPr>
        <p:spPr>
          <a:xfrm>
            <a:off x="1000353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6" name="subject cell 326"/>
          <p:cNvSpPr/>
          <p:nvPr/>
        </p:nvSpPr>
        <p:spPr>
          <a:xfrm>
            <a:off x="1011326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7" name="subject cell 327"/>
          <p:cNvSpPr/>
          <p:nvPr/>
        </p:nvSpPr>
        <p:spPr>
          <a:xfrm>
            <a:off x="1022299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8" name="subject cell 328"/>
          <p:cNvSpPr/>
          <p:nvPr/>
        </p:nvSpPr>
        <p:spPr>
          <a:xfrm>
            <a:off x="10332720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29" name="subject cell 329"/>
          <p:cNvSpPr/>
          <p:nvPr/>
        </p:nvSpPr>
        <p:spPr>
          <a:xfrm>
            <a:off x="1044244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0" name="subject cell 330"/>
          <p:cNvSpPr/>
          <p:nvPr/>
        </p:nvSpPr>
        <p:spPr>
          <a:xfrm>
            <a:off x="1055217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1" name="subject cell 331"/>
          <p:cNvSpPr/>
          <p:nvPr/>
        </p:nvSpPr>
        <p:spPr>
          <a:xfrm>
            <a:off x="1066190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2" name="subject cell 332"/>
          <p:cNvSpPr/>
          <p:nvPr/>
        </p:nvSpPr>
        <p:spPr>
          <a:xfrm>
            <a:off x="1077163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3" name="subject cell 333"/>
          <p:cNvSpPr/>
          <p:nvPr/>
        </p:nvSpPr>
        <p:spPr>
          <a:xfrm>
            <a:off x="10881360" y="274320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34" name="subject cell 334"/>
          <p:cNvSpPr/>
          <p:nvPr/>
        </p:nvSpPr>
        <p:spPr>
          <a:xfrm>
            <a:off x="1099108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5" name="subject cell 335"/>
          <p:cNvSpPr/>
          <p:nvPr/>
        </p:nvSpPr>
        <p:spPr>
          <a:xfrm>
            <a:off x="1110081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6" name="subject cell 336"/>
          <p:cNvSpPr/>
          <p:nvPr/>
        </p:nvSpPr>
        <p:spPr>
          <a:xfrm>
            <a:off x="11210544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7" name="subject cell 337"/>
          <p:cNvSpPr/>
          <p:nvPr/>
        </p:nvSpPr>
        <p:spPr>
          <a:xfrm>
            <a:off x="11320272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8" name="subject cell 338"/>
          <p:cNvSpPr/>
          <p:nvPr/>
        </p:nvSpPr>
        <p:spPr>
          <a:xfrm>
            <a:off x="11430000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39" name="subject cell 339"/>
          <p:cNvSpPr/>
          <p:nvPr/>
        </p:nvSpPr>
        <p:spPr>
          <a:xfrm>
            <a:off x="11539728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0" name="subject cell 340"/>
          <p:cNvSpPr/>
          <p:nvPr/>
        </p:nvSpPr>
        <p:spPr>
          <a:xfrm>
            <a:off x="11649456" y="274320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1" name="split label 341"/>
          <p:cNvSpPr txBox="1"/>
          <p:nvPr/>
        </p:nvSpPr>
        <p:spPr>
          <a:xfrm>
            <a:off x="8001000" y="29443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3</a:t>
            </a:r>
            <a:endParaRPr lang="en-US" sz="1000" dirty="0"/>
          </a:p>
        </p:txBody>
      </p:sp>
      <p:sp>
        <p:nvSpPr>
          <p:cNvPr id="342" name="subject cell 342"/>
          <p:cNvSpPr/>
          <p:nvPr/>
        </p:nvSpPr>
        <p:spPr>
          <a:xfrm>
            <a:off x="846734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3" name="subject cell 343"/>
          <p:cNvSpPr/>
          <p:nvPr/>
        </p:nvSpPr>
        <p:spPr>
          <a:xfrm>
            <a:off x="857707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4" name="subject cell 344"/>
          <p:cNvSpPr/>
          <p:nvPr/>
        </p:nvSpPr>
        <p:spPr>
          <a:xfrm>
            <a:off x="868680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5" name="subject cell 345"/>
          <p:cNvSpPr/>
          <p:nvPr/>
        </p:nvSpPr>
        <p:spPr>
          <a:xfrm>
            <a:off x="8796528" y="299923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46" name="subject cell 346"/>
          <p:cNvSpPr/>
          <p:nvPr/>
        </p:nvSpPr>
        <p:spPr>
          <a:xfrm>
            <a:off x="890625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7" name="subject cell 347"/>
          <p:cNvSpPr/>
          <p:nvPr/>
        </p:nvSpPr>
        <p:spPr>
          <a:xfrm>
            <a:off x="901598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8" name="subject cell 348"/>
          <p:cNvSpPr/>
          <p:nvPr/>
        </p:nvSpPr>
        <p:spPr>
          <a:xfrm>
            <a:off x="912571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49" name="subject cell 349"/>
          <p:cNvSpPr/>
          <p:nvPr/>
        </p:nvSpPr>
        <p:spPr>
          <a:xfrm>
            <a:off x="923544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0" name="subject cell 350"/>
          <p:cNvSpPr/>
          <p:nvPr/>
        </p:nvSpPr>
        <p:spPr>
          <a:xfrm>
            <a:off x="9345168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1" name="subject cell 351"/>
          <p:cNvSpPr/>
          <p:nvPr/>
        </p:nvSpPr>
        <p:spPr>
          <a:xfrm>
            <a:off x="945489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2" name="subject cell 352"/>
          <p:cNvSpPr/>
          <p:nvPr/>
        </p:nvSpPr>
        <p:spPr>
          <a:xfrm>
            <a:off x="956462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3" name="subject cell 353"/>
          <p:cNvSpPr/>
          <p:nvPr/>
        </p:nvSpPr>
        <p:spPr>
          <a:xfrm>
            <a:off x="967435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4" name="subject cell 354"/>
          <p:cNvSpPr/>
          <p:nvPr/>
        </p:nvSpPr>
        <p:spPr>
          <a:xfrm>
            <a:off x="978408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5" name="subject cell 355"/>
          <p:cNvSpPr/>
          <p:nvPr/>
        </p:nvSpPr>
        <p:spPr>
          <a:xfrm>
            <a:off x="9893808" y="299923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56" name="subject cell 356"/>
          <p:cNvSpPr/>
          <p:nvPr/>
        </p:nvSpPr>
        <p:spPr>
          <a:xfrm>
            <a:off x="1000353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7" name="subject cell 357"/>
          <p:cNvSpPr/>
          <p:nvPr/>
        </p:nvSpPr>
        <p:spPr>
          <a:xfrm>
            <a:off x="1011326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8" name="subject cell 358"/>
          <p:cNvSpPr/>
          <p:nvPr/>
        </p:nvSpPr>
        <p:spPr>
          <a:xfrm>
            <a:off x="1022299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59" name="subject cell 359"/>
          <p:cNvSpPr/>
          <p:nvPr/>
        </p:nvSpPr>
        <p:spPr>
          <a:xfrm>
            <a:off x="1033272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0" name="subject cell 360"/>
          <p:cNvSpPr/>
          <p:nvPr/>
        </p:nvSpPr>
        <p:spPr>
          <a:xfrm>
            <a:off x="10442448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1" name="subject cell 361"/>
          <p:cNvSpPr/>
          <p:nvPr/>
        </p:nvSpPr>
        <p:spPr>
          <a:xfrm>
            <a:off x="1055217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2" name="subject cell 362"/>
          <p:cNvSpPr/>
          <p:nvPr/>
        </p:nvSpPr>
        <p:spPr>
          <a:xfrm>
            <a:off x="1066190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3" name="subject cell 363"/>
          <p:cNvSpPr/>
          <p:nvPr/>
        </p:nvSpPr>
        <p:spPr>
          <a:xfrm>
            <a:off x="1077163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4" name="subject cell 364"/>
          <p:cNvSpPr/>
          <p:nvPr/>
        </p:nvSpPr>
        <p:spPr>
          <a:xfrm>
            <a:off x="1088136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5" name="subject cell 365"/>
          <p:cNvSpPr/>
          <p:nvPr/>
        </p:nvSpPr>
        <p:spPr>
          <a:xfrm>
            <a:off x="10991088" y="299923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66" name="subject cell 366"/>
          <p:cNvSpPr/>
          <p:nvPr/>
        </p:nvSpPr>
        <p:spPr>
          <a:xfrm>
            <a:off x="1110081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7" name="subject cell 367"/>
          <p:cNvSpPr/>
          <p:nvPr/>
        </p:nvSpPr>
        <p:spPr>
          <a:xfrm>
            <a:off x="11210544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8" name="subject cell 368"/>
          <p:cNvSpPr/>
          <p:nvPr/>
        </p:nvSpPr>
        <p:spPr>
          <a:xfrm>
            <a:off x="11320272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69" name="subject cell 369"/>
          <p:cNvSpPr/>
          <p:nvPr/>
        </p:nvSpPr>
        <p:spPr>
          <a:xfrm>
            <a:off x="11430000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0" name="subject cell 370"/>
          <p:cNvSpPr/>
          <p:nvPr/>
        </p:nvSpPr>
        <p:spPr>
          <a:xfrm>
            <a:off x="11539728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1" name="subject cell 371"/>
          <p:cNvSpPr/>
          <p:nvPr/>
        </p:nvSpPr>
        <p:spPr>
          <a:xfrm>
            <a:off x="11649456" y="299923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2" name="split label 372"/>
          <p:cNvSpPr txBox="1"/>
          <p:nvPr/>
        </p:nvSpPr>
        <p:spPr>
          <a:xfrm>
            <a:off x="8001000" y="320040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4</a:t>
            </a:r>
            <a:endParaRPr lang="en-US" sz="1000" dirty="0"/>
          </a:p>
        </p:txBody>
      </p:sp>
      <p:sp>
        <p:nvSpPr>
          <p:cNvPr id="373" name="subject cell 373"/>
          <p:cNvSpPr/>
          <p:nvPr/>
        </p:nvSpPr>
        <p:spPr>
          <a:xfrm>
            <a:off x="846734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4" name="subject cell 374"/>
          <p:cNvSpPr/>
          <p:nvPr/>
        </p:nvSpPr>
        <p:spPr>
          <a:xfrm>
            <a:off x="857707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5" name="subject cell 375"/>
          <p:cNvSpPr/>
          <p:nvPr/>
        </p:nvSpPr>
        <p:spPr>
          <a:xfrm>
            <a:off x="868680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6" name="subject cell 376"/>
          <p:cNvSpPr/>
          <p:nvPr/>
        </p:nvSpPr>
        <p:spPr>
          <a:xfrm>
            <a:off x="879652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7" name="subject cell 377"/>
          <p:cNvSpPr/>
          <p:nvPr/>
        </p:nvSpPr>
        <p:spPr>
          <a:xfrm>
            <a:off x="8906256" y="325526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78" name="subject cell 378"/>
          <p:cNvSpPr/>
          <p:nvPr/>
        </p:nvSpPr>
        <p:spPr>
          <a:xfrm>
            <a:off x="901598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79" name="subject cell 379"/>
          <p:cNvSpPr/>
          <p:nvPr/>
        </p:nvSpPr>
        <p:spPr>
          <a:xfrm>
            <a:off x="912571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0" name="subject cell 380"/>
          <p:cNvSpPr/>
          <p:nvPr/>
        </p:nvSpPr>
        <p:spPr>
          <a:xfrm>
            <a:off x="923544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1" name="subject cell 381"/>
          <p:cNvSpPr/>
          <p:nvPr/>
        </p:nvSpPr>
        <p:spPr>
          <a:xfrm>
            <a:off x="934516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2" name="subject cell 382"/>
          <p:cNvSpPr/>
          <p:nvPr/>
        </p:nvSpPr>
        <p:spPr>
          <a:xfrm>
            <a:off x="9454896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3" name="subject cell 383"/>
          <p:cNvSpPr/>
          <p:nvPr/>
        </p:nvSpPr>
        <p:spPr>
          <a:xfrm>
            <a:off x="956462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4" name="subject cell 384"/>
          <p:cNvSpPr/>
          <p:nvPr/>
        </p:nvSpPr>
        <p:spPr>
          <a:xfrm>
            <a:off x="967435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5" name="subject cell 385"/>
          <p:cNvSpPr/>
          <p:nvPr/>
        </p:nvSpPr>
        <p:spPr>
          <a:xfrm>
            <a:off x="978408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6" name="subject cell 386"/>
          <p:cNvSpPr/>
          <p:nvPr/>
        </p:nvSpPr>
        <p:spPr>
          <a:xfrm>
            <a:off x="989380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7" name="subject cell 387"/>
          <p:cNvSpPr/>
          <p:nvPr/>
        </p:nvSpPr>
        <p:spPr>
          <a:xfrm>
            <a:off x="10003536" y="325526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88" name="subject cell 388"/>
          <p:cNvSpPr/>
          <p:nvPr/>
        </p:nvSpPr>
        <p:spPr>
          <a:xfrm>
            <a:off x="1011326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89" name="subject cell 389"/>
          <p:cNvSpPr/>
          <p:nvPr/>
        </p:nvSpPr>
        <p:spPr>
          <a:xfrm>
            <a:off x="1022299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0" name="subject cell 390"/>
          <p:cNvSpPr/>
          <p:nvPr/>
        </p:nvSpPr>
        <p:spPr>
          <a:xfrm>
            <a:off x="1033272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1" name="subject cell 391"/>
          <p:cNvSpPr/>
          <p:nvPr/>
        </p:nvSpPr>
        <p:spPr>
          <a:xfrm>
            <a:off x="1044244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2" name="subject cell 392"/>
          <p:cNvSpPr/>
          <p:nvPr/>
        </p:nvSpPr>
        <p:spPr>
          <a:xfrm>
            <a:off x="10552176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3" name="subject cell 393"/>
          <p:cNvSpPr/>
          <p:nvPr/>
        </p:nvSpPr>
        <p:spPr>
          <a:xfrm>
            <a:off x="1066190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4" name="subject cell 394"/>
          <p:cNvSpPr/>
          <p:nvPr/>
        </p:nvSpPr>
        <p:spPr>
          <a:xfrm>
            <a:off x="1077163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5" name="subject cell 395"/>
          <p:cNvSpPr/>
          <p:nvPr/>
        </p:nvSpPr>
        <p:spPr>
          <a:xfrm>
            <a:off x="1088136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6" name="subject cell 396"/>
          <p:cNvSpPr/>
          <p:nvPr/>
        </p:nvSpPr>
        <p:spPr>
          <a:xfrm>
            <a:off x="1099108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7" name="subject cell 397"/>
          <p:cNvSpPr/>
          <p:nvPr/>
        </p:nvSpPr>
        <p:spPr>
          <a:xfrm>
            <a:off x="11100816" y="325526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398" name="subject cell 398"/>
          <p:cNvSpPr/>
          <p:nvPr/>
        </p:nvSpPr>
        <p:spPr>
          <a:xfrm>
            <a:off x="11210544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399" name="subject cell 399"/>
          <p:cNvSpPr/>
          <p:nvPr/>
        </p:nvSpPr>
        <p:spPr>
          <a:xfrm>
            <a:off x="11320272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0" name="subject cell 400"/>
          <p:cNvSpPr/>
          <p:nvPr/>
        </p:nvSpPr>
        <p:spPr>
          <a:xfrm>
            <a:off x="11430000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1" name="subject cell 401"/>
          <p:cNvSpPr/>
          <p:nvPr/>
        </p:nvSpPr>
        <p:spPr>
          <a:xfrm>
            <a:off x="11539728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2" name="subject cell 402"/>
          <p:cNvSpPr/>
          <p:nvPr/>
        </p:nvSpPr>
        <p:spPr>
          <a:xfrm>
            <a:off x="11649456" y="325526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3" name="split label 403"/>
          <p:cNvSpPr txBox="1"/>
          <p:nvPr/>
        </p:nvSpPr>
        <p:spPr>
          <a:xfrm>
            <a:off x="8001000" y="345643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5</a:t>
            </a:r>
            <a:endParaRPr lang="en-US" sz="1000" dirty="0"/>
          </a:p>
        </p:txBody>
      </p:sp>
      <p:sp>
        <p:nvSpPr>
          <p:cNvPr id="404" name="subject cell 404"/>
          <p:cNvSpPr/>
          <p:nvPr/>
        </p:nvSpPr>
        <p:spPr>
          <a:xfrm>
            <a:off x="8467344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5" name="subject cell 405"/>
          <p:cNvSpPr/>
          <p:nvPr/>
        </p:nvSpPr>
        <p:spPr>
          <a:xfrm>
            <a:off x="857707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6" name="subject cell 406"/>
          <p:cNvSpPr/>
          <p:nvPr/>
        </p:nvSpPr>
        <p:spPr>
          <a:xfrm>
            <a:off x="868680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7" name="subject cell 407"/>
          <p:cNvSpPr/>
          <p:nvPr/>
        </p:nvSpPr>
        <p:spPr>
          <a:xfrm>
            <a:off x="879652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8" name="subject cell 408"/>
          <p:cNvSpPr/>
          <p:nvPr/>
        </p:nvSpPr>
        <p:spPr>
          <a:xfrm>
            <a:off x="890625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09" name="subject cell 409"/>
          <p:cNvSpPr/>
          <p:nvPr/>
        </p:nvSpPr>
        <p:spPr>
          <a:xfrm>
            <a:off x="9015984" y="351129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10" name="subject cell 410"/>
          <p:cNvSpPr/>
          <p:nvPr/>
        </p:nvSpPr>
        <p:spPr>
          <a:xfrm>
            <a:off x="912571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1" name="subject cell 411"/>
          <p:cNvSpPr/>
          <p:nvPr/>
        </p:nvSpPr>
        <p:spPr>
          <a:xfrm>
            <a:off x="923544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2" name="subject cell 412"/>
          <p:cNvSpPr/>
          <p:nvPr/>
        </p:nvSpPr>
        <p:spPr>
          <a:xfrm>
            <a:off x="934516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3" name="subject cell 413"/>
          <p:cNvSpPr/>
          <p:nvPr/>
        </p:nvSpPr>
        <p:spPr>
          <a:xfrm>
            <a:off x="945489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4" name="subject cell 414"/>
          <p:cNvSpPr/>
          <p:nvPr/>
        </p:nvSpPr>
        <p:spPr>
          <a:xfrm>
            <a:off x="9564624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5" name="subject cell 415"/>
          <p:cNvSpPr/>
          <p:nvPr/>
        </p:nvSpPr>
        <p:spPr>
          <a:xfrm>
            <a:off x="967435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6" name="subject cell 416"/>
          <p:cNvSpPr/>
          <p:nvPr/>
        </p:nvSpPr>
        <p:spPr>
          <a:xfrm>
            <a:off x="978408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7" name="subject cell 417"/>
          <p:cNvSpPr/>
          <p:nvPr/>
        </p:nvSpPr>
        <p:spPr>
          <a:xfrm>
            <a:off x="989380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8" name="subject cell 418"/>
          <p:cNvSpPr/>
          <p:nvPr/>
        </p:nvSpPr>
        <p:spPr>
          <a:xfrm>
            <a:off x="1000353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19" name="subject cell 419"/>
          <p:cNvSpPr/>
          <p:nvPr/>
        </p:nvSpPr>
        <p:spPr>
          <a:xfrm>
            <a:off x="10113264" y="351129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20" name="subject cell 420"/>
          <p:cNvSpPr/>
          <p:nvPr/>
        </p:nvSpPr>
        <p:spPr>
          <a:xfrm>
            <a:off x="1022299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1" name="subject cell 421"/>
          <p:cNvSpPr/>
          <p:nvPr/>
        </p:nvSpPr>
        <p:spPr>
          <a:xfrm>
            <a:off x="1033272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2" name="subject cell 422"/>
          <p:cNvSpPr/>
          <p:nvPr/>
        </p:nvSpPr>
        <p:spPr>
          <a:xfrm>
            <a:off x="1044244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3" name="subject cell 423"/>
          <p:cNvSpPr/>
          <p:nvPr/>
        </p:nvSpPr>
        <p:spPr>
          <a:xfrm>
            <a:off x="1055217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4" name="subject cell 424"/>
          <p:cNvSpPr/>
          <p:nvPr/>
        </p:nvSpPr>
        <p:spPr>
          <a:xfrm>
            <a:off x="10661904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5" name="subject cell 425"/>
          <p:cNvSpPr/>
          <p:nvPr/>
        </p:nvSpPr>
        <p:spPr>
          <a:xfrm>
            <a:off x="1077163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6" name="subject cell 426"/>
          <p:cNvSpPr/>
          <p:nvPr/>
        </p:nvSpPr>
        <p:spPr>
          <a:xfrm>
            <a:off x="1088136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7" name="subject cell 427"/>
          <p:cNvSpPr/>
          <p:nvPr/>
        </p:nvSpPr>
        <p:spPr>
          <a:xfrm>
            <a:off x="1099108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8" name="subject cell 428"/>
          <p:cNvSpPr/>
          <p:nvPr/>
        </p:nvSpPr>
        <p:spPr>
          <a:xfrm>
            <a:off x="1110081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29" name="subject cell 429"/>
          <p:cNvSpPr/>
          <p:nvPr/>
        </p:nvSpPr>
        <p:spPr>
          <a:xfrm>
            <a:off x="11210544" y="3511296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30" name="subject cell 430"/>
          <p:cNvSpPr/>
          <p:nvPr/>
        </p:nvSpPr>
        <p:spPr>
          <a:xfrm>
            <a:off x="11320272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1" name="subject cell 431"/>
          <p:cNvSpPr/>
          <p:nvPr/>
        </p:nvSpPr>
        <p:spPr>
          <a:xfrm>
            <a:off x="11430000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2" name="subject cell 432"/>
          <p:cNvSpPr/>
          <p:nvPr/>
        </p:nvSpPr>
        <p:spPr>
          <a:xfrm>
            <a:off x="11539728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3" name="subject cell 433"/>
          <p:cNvSpPr/>
          <p:nvPr/>
        </p:nvSpPr>
        <p:spPr>
          <a:xfrm>
            <a:off x="11649456" y="3511296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4" name="split label 434"/>
          <p:cNvSpPr txBox="1"/>
          <p:nvPr/>
        </p:nvSpPr>
        <p:spPr>
          <a:xfrm>
            <a:off x="8001000" y="3712464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6</a:t>
            </a:r>
            <a:endParaRPr lang="en-US" sz="1000" dirty="0"/>
          </a:p>
        </p:txBody>
      </p:sp>
      <p:sp>
        <p:nvSpPr>
          <p:cNvPr id="435" name="subject cell 435"/>
          <p:cNvSpPr/>
          <p:nvPr/>
        </p:nvSpPr>
        <p:spPr>
          <a:xfrm>
            <a:off x="846734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6" name="subject cell 436"/>
          <p:cNvSpPr/>
          <p:nvPr/>
        </p:nvSpPr>
        <p:spPr>
          <a:xfrm>
            <a:off x="8577072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7" name="subject cell 437"/>
          <p:cNvSpPr/>
          <p:nvPr/>
        </p:nvSpPr>
        <p:spPr>
          <a:xfrm>
            <a:off x="868680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8" name="subject cell 438"/>
          <p:cNvSpPr/>
          <p:nvPr/>
        </p:nvSpPr>
        <p:spPr>
          <a:xfrm>
            <a:off x="879652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39" name="subject cell 439"/>
          <p:cNvSpPr/>
          <p:nvPr/>
        </p:nvSpPr>
        <p:spPr>
          <a:xfrm>
            <a:off x="890625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0" name="subject cell 440"/>
          <p:cNvSpPr/>
          <p:nvPr/>
        </p:nvSpPr>
        <p:spPr>
          <a:xfrm>
            <a:off x="901598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1" name="subject cell 441"/>
          <p:cNvSpPr/>
          <p:nvPr/>
        </p:nvSpPr>
        <p:spPr>
          <a:xfrm>
            <a:off x="9125712" y="376732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42" name="subject cell 442"/>
          <p:cNvSpPr/>
          <p:nvPr/>
        </p:nvSpPr>
        <p:spPr>
          <a:xfrm>
            <a:off x="923544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3" name="subject cell 443"/>
          <p:cNvSpPr/>
          <p:nvPr/>
        </p:nvSpPr>
        <p:spPr>
          <a:xfrm>
            <a:off x="934516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4" name="subject cell 444"/>
          <p:cNvSpPr/>
          <p:nvPr/>
        </p:nvSpPr>
        <p:spPr>
          <a:xfrm>
            <a:off x="945489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5" name="subject cell 445"/>
          <p:cNvSpPr/>
          <p:nvPr/>
        </p:nvSpPr>
        <p:spPr>
          <a:xfrm>
            <a:off x="956462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6" name="subject cell 446"/>
          <p:cNvSpPr/>
          <p:nvPr/>
        </p:nvSpPr>
        <p:spPr>
          <a:xfrm>
            <a:off x="9674352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7" name="subject cell 447"/>
          <p:cNvSpPr/>
          <p:nvPr/>
        </p:nvSpPr>
        <p:spPr>
          <a:xfrm>
            <a:off x="978408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8" name="subject cell 448"/>
          <p:cNvSpPr/>
          <p:nvPr/>
        </p:nvSpPr>
        <p:spPr>
          <a:xfrm>
            <a:off x="989380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49" name="subject cell 449"/>
          <p:cNvSpPr/>
          <p:nvPr/>
        </p:nvSpPr>
        <p:spPr>
          <a:xfrm>
            <a:off x="1000353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0" name="subject cell 450"/>
          <p:cNvSpPr/>
          <p:nvPr/>
        </p:nvSpPr>
        <p:spPr>
          <a:xfrm>
            <a:off x="1011326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1" name="subject cell 451"/>
          <p:cNvSpPr/>
          <p:nvPr/>
        </p:nvSpPr>
        <p:spPr>
          <a:xfrm>
            <a:off x="10222992" y="376732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52" name="subject cell 452"/>
          <p:cNvSpPr/>
          <p:nvPr/>
        </p:nvSpPr>
        <p:spPr>
          <a:xfrm>
            <a:off x="1033272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3" name="subject cell 453"/>
          <p:cNvSpPr/>
          <p:nvPr/>
        </p:nvSpPr>
        <p:spPr>
          <a:xfrm>
            <a:off x="1044244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4" name="subject cell 454"/>
          <p:cNvSpPr/>
          <p:nvPr/>
        </p:nvSpPr>
        <p:spPr>
          <a:xfrm>
            <a:off x="1055217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5" name="subject cell 455"/>
          <p:cNvSpPr/>
          <p:nvPr/>
        </p:nvSpPr>
        <p:spPr>
          <a:xfrm>
            <a:off x="1066190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6" name="subject cell 456"/>
          <p:cNvSpPr/>
          <p:nvPr/>
        </p:nvSpPr>
        <p:spPr>
          <a:xfrm>
            <a:off x="10771632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7" name="subject cell 457"/>
          <p:cNvSpPr/>
          <p:nvPr/>
        </p:nvSpPr>
        <p:spPr>
          <a:xfrm>
            <a:off x="1088136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8" name="subject cell 458"/>
          <p:cNvSpPr/>
          <p:nvPr/>
        </p:nvSpPr>
        <p:spPr>
          <a:xfrm>
            <a:off x="1099108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59" name="subject cell 459"/>
          <p:cNvSpPr/>
          <p:nvPr/>
        </p:nvSpPr>
        <p:spPr>
          <a:xfrm>
            <a:off x="1110081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0" name="subject cell 460"/>
          <p:cNvSpPr/>
          <p:nvPr/>
        </p:nvSpPr>
        <p:spPr>
          <a:xfrm>
            <a:off x="11210544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1" name="subject cell 461"/>
          <p:cNvSpPr/>
          <p:nvPr/>
        </p:nvSpPr>
        <p:spPr>
          <a:xfrm>
            <a:off x="11320272" y="3767328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62" name="subject cell 462"/>
          <p:cNvSpPr/>
          <p:nvPr/>
        </p:nvSpPr>
        <p:spPr>
          <a:xfrm>
            <a:off x="11430000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3" name="subject cell 463"/>
          <p:cNvSpPr/>
          <p:nvPr/>
        </p:nvSpPr>
        <p:spPr>
          <a:xfrm>
            <a:off x="11539728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4" name="subject cell 464"/>
          <p:cNvSpPr/>
          <p:nvPr/>
        </p:nvSpPr>
        <p:spPr>
          <a:xfrm>
            <a:off x="11649456" y="3767328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5" name="split label 465"/>
          <p:cNvSpPr txBox="1"/>
          <p:nvPr/>
        </p:nvSpPr>
        <p:spPr>
          <a:xfrm>
            <a:off x="8001000" y="39684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7</a:t>
            </a:r>
            <a:endParaRPr lang="en-US" sz="1000" dirty="0"/>
          </a:p>
        </p:txBody>
      </p:sp>
      <p:sp>
        <p:nvSpPr>
          <p:cNvPr id="466" name="subject cell 466"/>
          <p:cNvSpPr/>
          <p:nvPr/>
        </p:nvSpPr>
        <p:spPr>
          <a:xfrm>
            <a:off x="846734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7" name="subject cell 467"/>
          <p:cNvSpPr/>
          <p:nvPr/>
        </p:nvSpPr>
        <p:spPr>
          <a:xfrm>
            <a:off x="857707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8" name="subject cell 468"/>
          <p:cNvSpPr/>
          <p:nvPr/>
        </p:nvSpPr>
        <p:spPr>
          <a:xfrm>
            <a:off x="8686800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69" name="subject cell 469"/>
          <p:cNvSpPr/>
          <p:nvPr/>
        </p:nvSpPr>
        <p:spPr>
          <a:xfrm>
            <a:off x="879652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0" name="subject cell 470"/>
          <p:cNvSpPr/>
          <p:nvPr/>
        </p:nvSpPr>
        <p:spPr>
          <a:xfrm>
            <a:off x="890625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1" name="subject cell 471"/>
          <p:cNvSpPr/>
          <p:nvPr/>
        </p:nvSpPr>
        <p:spPr>
          <a:xfrm>
            <a:off x="901598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2" name="subject cell 472"/>
          <p:cNvSpPr/>
          <p:nvPr/>
        </p:nvSpPr>
        <p:spPr>
          <a:xfrm>
            <a:off x="912571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3" name="subject cell 473"/>
          <p:cNvSpPr/>
          <p:nvPr/>
        </p:nvSpPr>
        <p:spPr>
          <a:xfrm>
            <a:off x="9235440" y="402336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74" name="subject cell 474"/>
          <p:cNvSpPr/>
          <p:nvPr/>
        </p:nvSpPr>
        <p:spPr>
          <a:xfrm>
            <a:off x="934516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5" name="subject cell 475"/>
          <p:cNvSpPr/>
          <p:nvPr/>
        </p:nvSpPr>
        <p:spPr>
          <a:xfrm>
            <a:off x="945489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6" name="subject cell 476"/>
          <p:cNvSpPr/>
          <p:nvPr/>
        </p:nvSpPr>
        <p:spPr>
          <a:xfrm>
            <a:off x="956462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7" name="subject cell 477"/>
          <p:cNvSpPr/>
          <p:nvPr/>
        </p:nvSpPr>
        <p:spPr>
          <a:xfrm>
            <a:off x="967435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8" name="subject cell 478"/>
          <p:cNvSpPr/>
          <p:nvPr/>
        </p:nvSpPr>
        <p:spPr>
          <a:xfrm>
            <a:off x="9784080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79" name="subject cell 479"/>
          <p:cNvSpPr/>
          <p:nvPr/>
        </p:nvSpPr>
        <p:spPr>
          <a:xfrm>
            <a:off x="989380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0" name="subject cell 480"/>
          <p:cNvSpPr/>
          <p:nvPr/>
        </p:nvSpPr>
        <p:spPr>
          <a:xfrm>
            <a:off x="1000353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1" name="subject cell 481"/>
          <p:cNvSpPr/>
          <p:nvPr/>
        </p:nvSpPr>
        <p:spPr>
          <a:xfrm>
            <a:off x="1011326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2" name="subject cell 482"/>
          <p:cNvSpPr/>
          <p:nvPr/>
        </p:nvSpPr>
        <p:spPr>
          <a:xfrm>
            <a:off x="1022299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3" name="subject cell 483"/>
          <p:cNvSpPr/>
          <p:nvPr/>
        </p:nvSpPr>
        <p:spPr>
          <a:xfrm>
            <a:off x="10332720" y="402336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84" name="subject cell 484"/>
          <p:cNvSpPr/>
          <p:nvPr/>
        </p:nvSpPr>
        <p:spPr>
          <a:xfrm>
            <a:off x="1044244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5" name="subject cell 485"/>
          <p:cNvSpPr/>
          <p:nvPr/>
        </p:nvSpPr>
        <p:spPr>
          <a:xfrm>
            <a:off x="1055217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6" name="subject cell 486"/>
          <p:cNvSpPr/>
          <p:nvPr/>
        </p:nvSpPr>
        <p:spPr>
          <a:xfrm>
            <a:off x="1066190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7" name="subject cell 487"/>
          <p:cNvSpPr/>
          <p:nvPr/>
        </p:nvSpPr>
        <p:spPr>
          <a:xfrm>
            <a:off x="1077163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8" name="subject cell 488"/>
          <p:cNvSpPr/>
          <p:nvPr/>
        </p:nvSpPr>
        <p:spPr>
          <a:xfrm>
            <a:off x="10881360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89" name="subject cell 489"/>
          <p:cNvSpPr/>
          <p:nvPr/>
        </p:nvSpPr>
        <p:spPr>
          <a:xfrm>
            <a:off x="1099108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0" name="subject cell 490"/>
          <p:cNvSpPr/>
          <p:nvPr/>
        </p:nvSpPr>
        <p:spPr>
          <a:xfrm>
            <a:off x="1110081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1" name="subject cell 491"/>
          <p:cNvSpPr/>
          <p:nvPr/>
        </p:nvSpPr>
        <p:spPr>
          <a:xfrm>
            <a:off x="11210544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2" name="subject cell 492"/>
          <p:cNvSpPr/>
          <p:nvPr/>
        </p:nvSpPr>
        <p:spPr>
          <a:xfrm>
            <a:off x="11320272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3" name="subject cell 493"/>
          <p:cNvSpPr/>
          <p:nvPr/>
        </p:nvSpPr>
        <p:spPr>
          <a:xfrm>
            <a:off x="11430000" y="4023360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494" name="subject cell 494"/>
          <p:cNvSpPr/>
          <p:nvPr/>
        </p:nvSpPr>
        <p:spPr>
          <a:xfrm>
            <a:off x="11539728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5" name="subject cell 495"/>
          <p:cNvSpPr/>
          <p:nvPr/>
        </p:nvSpPr>
        <p:spPr>
          <a:xfrm>
            <a:off x="11649456" y="4023360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6" name="split label 496"/>
          <p:cNvSpPr txBox="1"/>
          <p:nvPr/>
        </p:nvSpPr>
        <p:spPr>
          <a:xfrm>
            <a:off x="8001000" y="422452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8</a:t>
            </a:r>
            <a:endParaRPr lang="en-US" sz="1000" dirty="0"/>
          </a:p>
        </p:txBody>
      </p:sp>
      <p:sp>
        <p:nvSpPr>
          <p:cNvPr id="497" name="subject cell 497"/>
          <p:cNvSpPr/>
          <p:nvPr/>
        </p:nvSpPr>
        <p:spPr>
          <a:xfrm>
            <a:off x="846734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8" name="subject cell 498"/>
          <p:cNvSpPr/>
          <p:nvPr/>
        </p:nvSpPr>
        <p:spPr>
          <a:xfrm>
            <a:off x="857707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499" name="subject cell 499"/>
          <p:cNvSpPr/>
          <p:nvPr/>
        </p:nvSpPr>
        <p:spPr>
          <a:xfrm>
            <a:off x="868680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0" name="subject cell 500"/>
          <p:cNvSpPr/>
          <p:nvPr/>
        </p:nvSpPr>
        <p:spPr>
          <a:xfrm>
            <a:off x="8796528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1" name="subject cell 501"/>
          <p:cNvSpPr/>
          <p:nvPr/>
        </p:nvSpPr>
        <p:spPr>
          <a:xfrm>
            <a:off x="890625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2" name="subject cell 502"/>
          <p:cNvSpPr/>
          <p:nvPr/>
        </p:nvSpPr>
        <p:spPr>
          <a:xfrm>
            <a:off x="901598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3" name="subject cell 503"/>
          <p:cNvSpPr/>
          <p:nvPr/>
        </p:nvSpPr>
        <p:spPr>
          <a:xfrm>
            <a:off x="912571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4" name="subject cell 504"/>
          <p:cNvSpPr/>
          <p:nvPr/>
        </p:nvSpPr>
        <p:spPr>
          <a:xfrm>
            <a:off x="923544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5" name="subject cell 505"/>
          <p:cNvSpPr/>
          <p:nvPr/>
        </p:nvSpPr>
        <p:spPr>
          <a:xfrm>
            <a:off x="9345168" y="427939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06" name="subject cell 506"/>
          <p:cNvSpPr/>
          <p:nvPr/>
        </p:nvSpPr>
        <p:spPr>
          <a:xfrm>
            <a:off x="945489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7" name="subject cell 507"/>
          <p:cNvSpPr/>
          <p:nvPr/>
        </p:nvSpPr>
        <p:spPr>
          <a:xfrm>
            <a:off x="956462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8" name="subject cell 508"/>
          <p:cNvSpPr/>
          <p:nvPr/>
        </p:nvSpPr>
        <p:spPr>
          <a:xfrm>
            <a:off x="967435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09" name="subject cell 509"/>
          <p:cNvSpPr/>
          <p:nvPr/>
        </p:nvSpPr>
        <p:spPr>
          <a:xfrm>
            <a:off x="978408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0" name="subject cell 510"/>
          <p:cNvSpPr/>
          <p:nvPr/>
        </p:nvSpPr>
        <p:spPr>
          <a:xfrm>
            <a:off x="9893808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1" name="subject cell 511"/>
          <p:cNvSpPr/>
          <p:nvPr/>
        </p:nvSpPr>
        <p:spPr>
          <a:xfrm>
            <a:off x="1000353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2" name="subject cell 512"/>
          <p:cNvSpPr/>
          <p:nvPr/>
        </p:nvSpPr>
        <p:spPr>
          <a:xfrm>
            <a:off x="1011326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3" name="subject cell 513"/>
          <p:cNvSpPr/>
          <p:nvPr/>
        </p:nvSpPr>
        <p:spPr>
          <a:xfrm>
            <a:off x="1022299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4" name="subject cell 514"/>
          <p:cNvSpPr/>
          <p:nvPr/>
        </p:nvSpPr>
        <p:spPr>
          <a:xfrm>
            <a:off x="1033272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5" name="subject cell 515"/>
          <p:cNvSpPr/>
          <p:nvPr/>
        </p:nvSpPr>
        <p:spPr>
          <a:xfrm>
            <a:off x="10442448" y="427939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16" name="subject cell 516"/>
          <p:cNvSpPr/>
          <p:nvPr/>
        </p:nvSpPr>
        <p:spPr>
          <a:xfrm>
            <a:off x="1055217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7" name="subject cell 517"/>
          <p:cNvSpPr/>
          <p:nvPr/>
        </p:nvSpPr>
        <p:spPr>
          <a:xfrm>
            <a:off x="1066190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8" name="subject cell 518"/>
          <p:cNvSpPr/>
          <p:nvPr/>
        </p:nvSpPr>
        <p:spPr>
          <a:xfrm>
            <a:off x="1077163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19" name="subject cell 519"/>
          <p:cNvSpPr/>
          <p:nvPr/>
        </p:nvSpPr>
        <p:spPr>
          <a:xfrm>
            <a:off x="1088136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0" name="subject cell 520"/>
          <p:cNvSpPr/>
          <p:nvPr/>
        </p:nvSpPr>
        <p:spPr>
          <a:xfrm>
            <a:off x="10991088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1" name="subject cell 521"/>
          <p:cNvSpPr/>
          <p:nvPr/>
        </p:nvSpPr>
        <p:spPr>
          <a:xfrm>
            <a:off x="1110081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2" name="subject cell 522"/>
          <p:cNvSpPr/>
          <p:nvPr/>
        </p:nvSpPr>
        <p:spPr>
          <a:xfrm>
            <a:off x="11210544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3" name="subject cell 523"/>
          <p:cNvSpPr/>
          <p:nvPr/>
        </p:nvSpPr>
        <p:spPr>
          <a:xfrm>
            <a:off x="11320272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4" name="subject cell 524"/>
          <p:cNvSpPr/>
          <p:nvPr/>
        </p:nvSpPr>
        <p:spPr>
          <a:xfrm>
            <a:off x="11430000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5" name="subject cell 525"/>
          <p:cNvSpPr/>
          <p:nvPr/>
        </p:nvSpPr>
        <p:spPr>
          <a:xfrm>
            <a:off x="11539728" y="4279392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26" name="subject cell 526"/>
          <p:cNvSpPr/>
          <p:nvPr/>
        </p:nvSpPr>
        <p:spPr>
          <a:xfrm>
            <a:off x="11649456" y="4279392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7" name="split label 527"/>
          <p:cNvSpPr txBox="1"/>
          <p:nvPr/>
        </p:nvSpPr>
        <p:spPr>
          <a:xfrm>
            <a:off x="8001000" y="448056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9</a:t>
            </a:r>
            <a:endParaRPr lang="en-US" sz="1000" dirty="0"/>
          </a:p>
        </p:txBody>
      </p:sp>
      <p:sp>
        <p:nvSpPr>
          <p:cNvPr id="528" name="subject cell 528"/>
          <p:cNvSpPr/>
          <p:nvPr/>
        </p:nvSpPr>
        <p:spPr>
          <a:xfrm>
            <a:off x="846734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29" name="subject cell 529"/>
          <p:cNvSpPr/>
          <p:nvPr/>
        </p:nvSpPr>
        <p:spPr>
          <a:xfrm>
            <a:off x="857707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0" name="subject cell 530"/>
          <p:cNvSpPr/>
          <p:nvPr/>
        </p:nvSpPr>
        <p:spPr>
          <a:xfrm>
            <a:off x="868680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1" name="subject cell 531"/>
          <p:cNvSpPr/>
          <p:nvPr/>
        </p:nvSpPr>
        <p:spPr>
          <a:xfrm>
            <a:off x="879652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2" name="subject cell 532"/>
          <p:cNvSpPr/>
          <p:nvPr/>
        </p:nvSpPr>
        <p:spPr>
          <a:xfrm>
            <a:off x="8906256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3" name="subject cell 533"/>
          <p:cNvSpPr/>
          <p:nvPr/>
        </p:nvSpPr>
        <p:spPr>
          <a:xfrm>
            <a:off x="901598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4" name="subject cell 534"/>
          <p:cNvSpPr/>
          <p:nvPr/>
        </p:nvSpPr>
        <p:spPr>
          <a:xfrm>
            <a:off x="912571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5" name="subject cell 535"/>
          <p:cNvSpPr/>
          <p:nvPr/>
        </p:nvSpPr>
        <p:spPr>
          <a:xfrm>
            <a:off x="923544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6" name="subject cell 536"/>
          <p:cNvSpPr/>
          <p:nvPr/>
        </p:nvSpPr>
        <p:spPr>
          <a:xfrm>
            <a:off x="934516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7" name="subject cell 537"/>
          <p:cNvSpPr/>
          <p:nvPr/>
        </p:nvSpPr>
        <p:spPr>
          <a:xfrm>
            <a:off x="9454896" y="453542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38" name="subject cell 538"/>
          <p:cNvSpPr/>
          <p:nvPr/>
        </p:nvSpPr>
        <p:spPr>
          <a:xfrm>
            <a:off x="956462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39" name="subject cell 539"/>
          <p:cNvSpPr/>
          <p:nvPr/>
        </p:nvSpPr>
        <p:spPr>
          <a:xfrm>
            <a:off x="967435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0" name="subject cell 540"/>
          <p:cNvSpPr/>
          <p:nvPr/>
        </p:nvSpPr>
        <p:spPr>
          <a:xfrm>
            <a:off x="978408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1" name="subject cell 541"/>
          <p:cNvSpPr/>
          <p:nvPr/>
        </p:nvSpPr>
        <p:spPr>
          <a:xfrm>
            <a:off x="989380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2" name="subject cell 542"/>
          <p:cNvSpPr/>
          <p:nvPr/>
        </p:nvSpPr>
        <p:spPr>
          <a:xfrm>
            <a:off x="10003536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3" name="subject cell 543"/>
          <p:cNvSpPr/>
          <p:nvPr/>
        </p:nvSpPr>
        <p:spPr>
          <a:xfrm>
            <a:off x="1011326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4" name="subject cell 544"/>
          <p:cNvSpPr/>
          <p:nvPr/>
        </p:nvSpPr>
        <p:spPr>
          <a:xfrm>
            <a:off x="1022299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5" name="subject cell 545"/>
          <p:cNvSpPr/>
          <p:nvPr/>
        </p:nvSpPr>
        <p:spPr>
          <a:xfrm>
            <a:off x="1033272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6" name="subject cell 546"/>
          <p:cNvSpPr/>
          <p:nvPr/>
        </p:nvSpPr>
        <p:spPr>
          <a:xfrm>
            <a:off x="1044244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7" name="subject cell 547"/>
          <p:cNvSpPr/>
          <p:nvPr/>
        </p:nvSpPr>
        <p:spPr>
          <a:xfrm>
            <a:off x="10552176" y="453542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48" name="subject cell 548"/>
          <p:cNvSpPr/>
          <p:nvPr/>
        </p:nvSpPr>
        <p:spPr>
          <a:xfrm>
            <a:off x="1066190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49" name="subject cell 549"/>
          <p:cNvSpPr/>
          <p:nvPr/>
        </p:nvSpPr>
        <p:spPr>
          <a:xfrm>
            <a:off x="1077163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0" name="subject cell 550"/>
          <p:cNvSpPr/>
          <p:nvPr/>
        </p:nvSpPr>
        <p:spPr>
          <a:xfrm>
            <a:off x="1088136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1" name="subject cell 551"/>
          <p:cNvSpPr/>
          <p:nvPr/>
        </p:nvSpPr>
        <p:spPr>
          <a:xfrm>
            <a:off x="1099108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2" name="subject cell 552"/>
          <p:cNvSpPr/>
          <p:nvPr/>
        </p:nvSpPr>
        <p:spPr>
          <a:xfrm>
            <a:off x="11100816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3" name="subject cell 553"/>
          <p:cNvSpPr/>
          <p:nvPr/>
        </p:nvSpPr>
        <p:spPr>
          <a:xfrm>
            <a:off x="11210544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4" name="subject cell 554"/>
          <p:cNvSpPr/>
          <p:nvPr/>
        </p:nvSpPr>
        <p:spPr>
          <a:xfrm>
            <a:off x="11320272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5" name="subject cell 555"/>
          <p:cNvSpPr/>
          <p:nvPr/>
        </p:nvSpPr>
        <p:spPr>
          <a:xfrm>
            <a:off x="11430000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6" name="subject cell 556"/>
          <p:cNvSpPr/>
          <p:nvPr/>
        </p:nvSpPr>
        <p:spPr>
          <a:xfrm>
            <a:off x="11539728" y="4535424"/>
            <a:ext cx="91440" cy="219456"/>
          </a:xfrm>
          <a:prstGeom prst="rect">
            <a:avLst/>
          </a:prstGeom>
          <a:solidFill>
            <a:srgbClr val="ECEBE8"/>
          </a:solidFill>
          <a:ln>
            <a:noFill/>
          </a:ln>
        </p:spPr>
      </p:sp>
      <p:sp>
        <p:nvSpPr>
          <p:cNvPr id="557" name="subject cell 557"/>
          <p:cNvSpPr/>
          <p:nvPr/>
        </p:nvSpPr>
        <p:spPr>
          <a:xfrm>
            <a:off x="11649456" y="4535424"/>
            <a:ext cx="91440" cy="219456"/>
          </a:xfrm>
          <a:prstGeom prst="rect">
            <a:avLst/>
          </a:prstGeom>
          <a:solidFill>
            <a:srgbClr val="256ABF"/>
          </a:solidFill>
          <a:ln>
            <a:noFill/>
          </a:ln>
        </p:spPr>
      </p:sp>
      <p:sp>
        <p:nvSpPr>
          <p:cNvPr id="558" name="tick 558"/>
          <p:cNvSpPr txBox="1"/>
          <p:nvPr/>
        </p:nvSpPr>
        <p:spPr>
          <a:xfrm>
            <a:off x="827532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0</a:t>
            </a:r>
            <a:endParaRPr lang="en-US" sz="1000" dirty="0"/>
          </a:p>
        </p:txBody>
      </p:sp>
      <p:sp>
        <p:nvSpPr>
          <p:cNvPr id="559" name="tick 559"/>
          <p:cNvSpPr txBox="1"/>
          <p:nvPr/>
        </p:nvSpPr>
        <p:spPr>
          <a:xfrm>
            <a:off x="882396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5</a:t>
            </a:r>
            <a:endParaRPr lang="en-US" sz="1000" dirty="0"/>
          </a:p>
        </p:txBody>
      </p:sp>
      <p:sp>
        <p:nvSpPr>
          <p:cNvPr id="560" name="tick 560"/>
          <p:cNvSpPr txBox="1"/>
          <p:nvPr/>
        </p:nvSpPr>
        <p:spPr>
          <a:xfrm>
            <a:off x="937260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10</a:t>
            </a:r>
            <a:endParaRPr lang="en-US" sz="1000" dirty="0"/>
          </a:p>
        </p:txBody>
      </p:sp>
      <p:sp>
        <p:nvSpPr>
          <p:cNvPr id="561" name="tick 561"/>
          <p:cNvSpPr txBox="1"/>
          <p:nvPr/>
        </p:nvSpPr>
        <p:spPr>
          <a:xfrm>
            <a:off x="992124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15</a:t>
            </a:r>
            <a:endParaRPr lang="en-US" sz="1000" dirty="0"/>
          </a:p>
        </p:txBody>
      </p:sp>
      <p:sp>
        <p:nvSpPr>
          <p:cNvPr id="562" name="tick 562"/>
          <p:cNvSpPr txBox="1"/>
          <p:nvPr/>
        </p:nvSpPr>
        <p:spPr>
          <a:xfrm>
            <a:off x="1046988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20</a:t>
            </a:r>
            <a:endParaRPr lang="en-US" sz="1000" dirty="0"/>
          </a:p>
        </p:txBody>
      </p:sp>
      <p:sp>
        <p:nvSpPr>
          <p:cNvPr id="563" name="tick 563"/>
          <p:cNvSpPr txBox="1"/>
          <p:nvPr/>
        </p:nvSpPr>
        <p:spPr>
          <a:xfrm>
            <a:off x="11018520" y="480974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000" b="0" i="0" dirty="0">
                <a:solidFill>
                  <a:srgbClr val="0B0B0B"/>
                </a:solidFill>
                <a:latin typeface="Arial"/>
                <a:cs typeface="Arial"/>
              </a:rPr>
              <a:t>25</a:t>
            </a:r>
            <a:endParaRPr lang="en-US" sz="1000" dirty="0"/>
          </a:p>
        </p:txBody>
      </p:sp>
      <p:sp>
        <p:nvSpPr>
          <p:cNvPr id="564" name="axis label 564"/>
          <p:cNvSpPr txBox="1"/>
          <p:nvPr/>
        </p:nvSpPr>
        <p:spPr>
          <a:xfrm>
            <a:off x="8458200" y="508406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UCI-HAR subject (of 30)</a:t>
            </a:r>
            <a:endParaRPr lang="en-US" sz="1100" dirty="0"/>
          </a:p>
        </p:txBody>
      </p:sp>
      <p:sp>
        <p:nvSpPr>
          <p:cNvPr id="565" name="axis label 565"/>
          <p:cNvSpPr txBox="1"/>
          <p:nvPr/>
        </p:nvSpPr>
        <p:spPr>
          <a:xfrm>
            <a:off x="7955280" y="177393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r"/>
            <a:r>
              <a:rPr lang="en-US" sz="1100" b="0" i="0" dirty="0">
                <a:solidFill>
                  <a:srgbClr val="0B0B0B"/>
                </a:solidFill>
                <a:latin typeface="Arial"/>
                <a:cs typeface="Arial"/>
              </a:rPr>
              <a:t>split</a:t>
            </a:r>
            <a:endParaRPr lang="en-US" sz="1100" dirty="0"/>
          </a:p>
        </p:txBody>
      </p:sp>
      <p:sp>
        <p:nvSpPr>
          <p:cNvPr id="566" name="note b 566"/>
          <p:cNvSpPr txBox="1"/>
          <p:nvPr/>
        </p:nvSpPr>
        <p:spPr>
          <a:xfrm>
            <a:off x="8458200" y="54681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000" b="0" i="0" dirty="0">
                <a:solidFill>
                  <a:srgbClr val="3D3C39"/>
                </a:solidFill>
                <a:latin typeface="Arial"/>
                <a:cs typeface="Arial"/>
              </a:rPr>
              <a:t>Each split tests three subjects never seen in its training or validation data; every subject is tested once.</a:t>
            </a:r>
            <a:endParaRPr lang="en-US" sz="1000" dirty="0"/>
          </a:p>
        </p:txBody>
      </p:sp>
      <p:sp>
        <p:nvSpPr>
          <p:cNvPr id="567" name="footnote 567"/>
          <p:cNvSpPr txBox="1"/>
          <p:nvPr/>
        </p:nvSpPr>
        <p:spPr>
          <a:xfrm>
            <a:off x="457200" y="6327648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000" b="0" i="0" dirty="0">
                <a:solidFill>
                  <a:srgbClr val="3D3C39"/>
                </a:solidFill>
                <a:latin typeface="Arial"/>
                <a:cs typeface="Arial"/>
              </a:rPr>
              <a:t>S1 serves the exploratory and sensitivity analyses, S2 the pre-registered test H1, S3 the check of how far the result extends. A filled cell holds every split of the dataset (three seeds in S1 and S2, one run in S3).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2400" b="1" i="0" dirty="0">
                <a:solidFill>
                  <a:srgbClr val="0B0B0B"/>
                </a:solidFill>
                <a:latin typeface="Arial"/>
                <a:cs typeface="Arial"/>
              </a:rPr>
              <a:t>The shared skeleton of the ten networks</a:t>
            </a:r>
            <a:endParaRPr lang="en-US" sz="2400" dirty="0"/>
          </a:p>
        </p:txBody>
      </p:sp>
      <p:sp>
        <p:nvSpPr>
          <p:cNvPr id="3" name="Window 3"/>
          <p:cNvSpPr/>
          <p:nvPr/>
        </p:nvSpPr>
        <p:spPr>
          <a:xfrm>
            <a:off x="457200" y="2011680"/>
            <a:ext cx="1143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3C3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Window</a:t>
            </a:r>
            <a:endParaRPr lang="en-US" sz="1300" dirty="0"/>
          </a:p>
          <a:p>
            <a:pPr algn="ctr"/>
            <a:r>
              <a:rPr lang="en-US" sz="1200" b="0" i="1" dirty="0">
                <a:solidFill>
                  <a:srgbClr val="3D3C39"/>
                </a:solidFill>
                <a:latin typeface="Arial"/>
                <a:cs typeface="Arial"/>
              </a:rPr>
              <a:t>C × L</a:t>
            </a:r>
            <a:endParaRPr lang="en-US" sz="1200" dirty="0"/>
          </a:p>
        </p:txBody>
      </p:sp>
      <p:sp>
        <p:nvSpPr>
          <p:cNvPr id="4" name="Encoder 4"/>
          <p:cNvSpPr/>
          <p:nvPr/>
        </p:nvSpPr>
        <p:spPr>
          <a:xfrm>
            <a:off x="2148840" y="2011680"/>
            <a:ext cx="1371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3C3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Encoder</a:t>
            </a:r>
            <a:endParaRPr lang="en-US" sz="1300" dirty="0"/>
          </a:p>
          <a:p>
            <a:pPr algn="ctr"/>
            <a:r>
              <a:rPr lang="en-US" sz="1200" b="0" i="0" dirty="0">
                <a:solidFill>
                  <a:srgbClr val="3D3C39"/>
                </a:solidFill>
                <a:latin typeface="Arial"/>
                <a:cs typeface="Arial"/>
              </a:rPr>
              <a:t>linear, C → D</a:t>
            </a:r>
            <a:endParaRPr lang="en-US" sz="1200" dirty="0"/>
          </a:p>
        </p:txBody>
      </p:sp>
      <p:sp>
        <p:nvSpPr>
          <p:cNvPr id="5" name="N × residual block 5"/>
          <p:cNvSpPr/>
          <p:nvPr/>
        </p:nvSpPr>
        <p:spPr>
          <a:xfrm>
            <a:off x="4069080" y="201168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AE8E1"/>
          </a:solidFill>
          <a:ln w="19050">
            <a:solidFill>
              <a:srgbClr val="D95926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N × residual block</a:t>
            </a:r>
            <a:endParaRPr lang="en-US" sz="1300" dirty="0"/>
          </a:p>
          <a:p>
            <a:pPr algn="ctr"/>
            <a:r>
              <a:rPr lang="en-US" sz="1200" b="0" i="0" dirty="0">
                <a:solidFill>
                  <a:srgbClr val="3D3C39"/>
                </a:solidFill>
                <a:latin typeface="Arial"/>
                <a:cs typeface="Arial"/>
              </a:rPr>
              <a:t>the network's memory</a:t>
            </a:r>
            <a:endParaRPr lang="en-US" sz="1200" dirty="0"/>
          </a:p>
        </p:txBody>
      </p:sp>
      <p:sp>
        <p:nvSpPr>
          <p:cNvPr id="6" name="Mean pooling 6"/>
          <p:cNvSpPr/>
          <p:nvPr/>
        </p:nvSpPr>
        <p:spPr>
          <a:xfrm>
            <a:off x="6629400" y="2011680"/>
            <a:ext cx="13258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3C3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Mean pooling</a:t>
            </a:r>
            <a:endParaRPr lang="en-US" sz="1300" dirty="0"/>
          </a:p>
          <a:p>
            <a:pPr algn="ctr"/>
            <a:r>
              <a:rPr lang="en-US" sz="1200" b="0" i="0" dirty="0">
                <a:solidFill>
                  <a:srgbClr val="3D3C39"/>
                </a:solidFill>
                <a:latin typeface="Arial"/>
                <a:cs typeface="Arial"/>
              </a:rPr>
              <a:t>over time</a:t>
            </a:r>
            <a:endParaRPr lang="en-US" sz="1200" dirty="0"/>
          </a:p>
        </p:txBody>
      </p:sp>
      <p:sp>
        <p:nvSpPr>
          <p:cNvPr id="7" name="Concat + norm 7"/>
          <p:cNvSpPr/>
          <p:nvPr/>
        </p:nvSpPr>
        <p:spPr>
          <a:xfrm>
            <a:off x="8503920" y="201168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3C3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Concat + norm</a:t>
            </a:r>
            <a:endParaRPr lang="en-US" sz="1300" dirty="0"/>
          </a:p>
          <a:p>
            <a:pPr algn="ctr"/>
            <a:r>
              <a:rPr lang="en-US" sz="1200" b="0" i="0" dirty="0">
                <a:solidFill>
                  <a:srgbClr val="3D3C39"/>
                </a:solidFill>
                <a:latin typeface="Arial"/>
                <a:cs typeface="Arial"/>
              </a:rPr>
              <a:t>LayerNorm</a:t>
            </a:r>
            <a:endParaRPr lang="en-US" sz="1200" dirty="0"/>
          </a:p>
        </p:txBody>
      </p:sp>
      <p:sp>
        <p:nvSpPr>
          <p:cNvPr id="8" name="Linear head 8"/>
          <p:cNvSpPr/>
          <p:nvPr/>
        </p:nvSpPr>
        <p:spPr>
          <a:xfrm>
            <a:off x="10469880" y="2011680"/>
            <a:ext cx="126187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D3C3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Linear head</a:t>
            </a:r>
            <a:endParaRPr lang="en-US" sz="1300" dirty="0"/>
          </a:p>
          <a:p>
            <a:pPr algn="ctr"/>
            <a:r>
              <a:rPr lang="en-US" sz="1200" b="0" i="1" dirty="0">
                <a:solidFill>
                  <a:srgbClr val="3D3C39"/>
                </a:solidFill>
                <a:latin typeface="Arial"/>
                <a:cs typeface="Arial"/>
              </a:rPr>
              <a:t>K classes</a:t>
            </a:r>
            <a:endParaRPr lang="en-US" sz="1200" dirty="0"/>
          </a:p>
        </p:txBody>
      </p:sp>
      <p:cxnSp>
        <p:nvCxnSpPr>
          <p:cNvPr id="9" name="edge 9"/>
          <p:cNvCxnSpPr/>
          <p:nvPr/>
        </p:nvCxnSpPr>
        <p:spPr>
          <a:xfrm>
            <a:off x="1600200" y="2491740"/>
            <a:ext cx="548640" cy="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10" name="edge label 10"/>
          <p:cNvSpPr txBox="1"/>
          <p:nvPr/>
        </p:nvSpPr>
        <p:spPr>
          <a:xfrm>
            <a:off x="1618488" y="214426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0B0B0B"/>
                </a:solidFill>
                <a:latin typeface="Arial"/>
                <a:cs typeface="Arial"/>
              </a:rPr>
              <a:t>L × C</a:t>
            </a:r>
            <a:endParaRPr lang="en-US" sz="1100" dirty="0"/>
          </a:p>
        </p:txBody>
      </p:sp>
      <p:cxnSp>
        <p:nvCxnSpPr>
          <p:cNvPr id="11" name="edge 11"/>
          <p:cNvCxnSpPr/>
          <p:nvPr/>
        </p:nvCxnSpPr>
        <p:spPr>
          <a:xfrm>
            <a:off x="3520440" y="2491740"/>
            <a:ext cx="548640" cy="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12" name="edge label 12"/>
          <p:cNvSpPr txBox="1"/>
          <p:nvPr/>
        </p:nvSpPr>
        <p:spPr>
          <a:xfrm>
            <a:off x="3538728" y="214426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0B0B0B"/>
                </a:solidFill>
                <a:latin typeface="Arial"/>
                <a:cs typeface="Arial"/>
              </a:rPr>
              <a:t>L × D</a:t>
            </a:r>
            <a:endParaRPr lang="en-US" sz="1100" dirty="0"/>
          </a:p>
        </p:txBody>
      </p:sp>
      <p:cxnSp>
        <p:nvCxnSpPr>
          <p:cNvPr id="13" name="edge 13"/>
          <p:cNvCxnSpPr/>
          <p:nvPr/>
        </p:nvCxnSpPr>
        <p:spPr>
          <a:xfrm>
            <a:off x="6080760" y="2491740"/>
            <a:ext cx="548640" cy="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14" name="edge label 14"/>
          <p:cNvSpPr txBox="1"/>
          <p:nvPr/>
        </p:nvSpPr>
        <p:spPr>
          <a:xfrm>
            <a:off x="6099048" y="214426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0B0B0B"/>
                </a:solidFill>
                <a:latin typeface="Arial"/>
                <a:cs typeface="Arial"/>
              </a:rPr>
              <a:t>L × D</a:t>
            </a:r>
            <a:endParaRPr lang="en-US" sz="1100" dirty="0"/>
          </a:p>
        </p:txBody>
      </p:sp>
      <p:cxnSp>
        <p:nvCxnSpPr>
          <p:cNvPr id="15" name="edge 15"/>
          <p:cNvCxnSpPr/>
          <p:nvPr/>
        </p:nvCxnSpPr>
        <p:spPr>
          <a:xfrm>
            <a:off x="7955280" y="2491740"/>
            <a:ext cx="548640" cy="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16" name="edge label 16"/>
          <p:cNvSpPr txBox="1"/>
          <p:nvPr/>
        </p:nvSpPr>
        <p:spPr>
          <a:xfrm>
            <a:off x="7973568" y="214426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0B0B0B"/>
                </a:solidFill>
                <a:latin typeface="Arial"/>
                <a:cs typeface="Arial"/>
              </a:rPr>
              <a:t>D</a:t>
            </a:r>
            <a:endParaRPr lang="en-US" sz="1100" dirty="0"/>
          </a:p>
        </p:txBody>
      </p:sp>
      <p:cxnSp>
        <p:nvCxnSpPr>
          <p:cNvPr id="17" name="edge 17"/>
          <p:cNvCxnSpPr/>
          <p:nvPr/>
        </p:nvCxnSpPr>
        <p:spPr>
          <a:xfrm>
            <a:off x="9921240" y="2491740"/>
            <a:ext cx="548640" cy="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18" name="edge label 18"/>
          <p:cNvSpPr txBox="1"/>
          <p:nvPr/>
        </p:nvSpPr>
        <p:spPr>
          <a:xfrm>
            <a:off x="9939528" y="214426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/>
            <a:r>
              <a:rPr lang="en-US" sz="1100" b="0" i="1" dirty="0">
                <a:solidFill>
                  <a:srgbClr val="0B0B0B"/>
                </a:solidFill>
                <a:latin typeface="Arial"/>
                <a:cs typeface="Arial"/>
              </a:rPr>
              <a:t>D′</a:t>
            </a:r>
            <a:endParaRPr lang="en-US" sz="1100" dirty="0"/>
          </a:p>
        </p:txBody>
      </p:sp>
      <p:sp>
        <p:nvSpPr>
          <p:cNvPr id="19" name="embedding label 19"/>
          <p:cNvSpPr txBox="1"/>
          <p:nvPr/>
        </p:nvSpPr>
        <p:spPr>
          <a:xfrm>
            <a:off x="9464040" y="302666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b="1" i="0" dirty="0">
                <a:solidFill>
                  <a:srgbClr val="0B0B0B"/>
                </a:solidFill>
                <a:latin typeface="Arial"/>
                <a:cs typeface="Arial"/>
              </a:rPr>
              <a:t>embedding</a:t>
            </a:r>
            <a:endParaRPr lang="en-US" sz="1200" dirty="0"/>
          </a:p>
        </p:txBody>
      </p:sp>
      <p:sp>
        <p:nvSpPr>
          <p:cNvPr id="20" name="side path 20"/>
          <p:cNvSpPr/>
          <p:nvPr/>
        </p:nvSpPr>
        <p:spPr>
          <a:xfrm>
            <a:off x="4251960" y="384048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7EEDB"/>
          </a:solidFill>
          <a:ln w="19050">
            <a:solidFill>
              <a:srgbClr val="C98500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 i="0" dirty="0">
                <a:solidFill>
                  <a:srgbClr val="0B0B0B"/>
                </a:solidFill>
                <a:latin typeface="Arial"/>
                <a:cs typeface="Arial"/>
              </a:rPr>
              <a:t>Side path (4 networks)</a:t>
            </a:r>
            <a:endParaRPr lang="en-US" sz="1300" dirty="0"/>
          </a:p>
          <a:p>
            <a:pPr algn="ctr"/>
            <a:r>
              <a:rPr lang="en-US" sz="1200" b="0" i="0" dirty="0">
                <a:solidFill>
                  <a:srgbClr val="3D3C39"/>
                </a:solidFill>
                <a:latin typeface="Arial"/>
                <a:cs typeface="Arial"/>
              </a:rPr>
              <a:t>window statistics or law invariants</a:t>
            </a:r>
            <a:endParaRPr lang="en-US" sz="1200" dirty="0"/>
          </a:p>
        </p:txBody>
      </p:sp>
      <p:cxnSp>
        <p:nvCxnSpPr>
          <p:cNvPr id="21" name="side line 21"/>
          <p:cNvCxnSpPr/>
          <p:nvPr/>
        </p:nvCxnSpPr>
        <p:spPr>
          <a:xfrm>
            <a:off x="1028700" y="2971800"/>
            <a:ext cx="0" cy="1303020"/>
          </a:xfrm>
          <a:prstGeom prst="line">
            <a:avLst/>
          </a:prstGeom>
          <a:ln w="15875">
            <a:solidFill>
              <a:srgbClr val="0B0B0B"/>
            </a:solidFill>
          </a:ln>
        </p:spPr>
      </p:cxnSp>
      <p:cxnSp>
        <p:nvCxnSpPr>
          <p:cNvPr id="22" name="side line 22"/>
          <p:cNvCxnSpPr/>
          <p:nvPr/>
        </p:nvCxnSpPr>
        <p:spPr>
          <a:xfrm>
            <a:off x="1028700" y="4274820"/>
            <a:ext cx="3223260" cy="0"/>
          </a:xfrm>
          <a:prstGeom prst="line">
            <a:avLst/>
          </a:prstGeom>
          <a:ln w="15875">
            <a:solidFill>
              <a:srgbClr val="0B0B0B"/>
            </a:solidFill>
          </a:ln>
        </p:spPr>
      </p:cxnSp>
      <p:cxnSp>
        <p:nvCxnSpPr>
          <p:cNvPr id="23" name="side line 23"/>
          <p:cNvCxnSpPr/>
          <p:nvPr/>
        </p:nvCxnSpPr>
        <p:spPr>
          <a:xfrm>
            <a:off x="7772400" y="4274820"/>
            <a:ext cx="1440180" cy="0"/>
          </a:xfrm>
          <a:prstGeom prst="line">
            <a:avLst/>
          </a:prstGeom>
          <a:ln w="15875">
            <a:solidFill>
              <a:srgbClr val="0B0B0B"/>
            </a:solidFill>
          </a:ln>
        </p:spPr>
      </p:cxnSp>
      <p:cxnSp>
        <p:nvCxnSpPr>
          <p:cNvPr id="24" name="side arrow 24"/>
          <p:cNvCxnSpPr/>
          <p:nvPr/>
        </p:nvCxnSpPr>
        <p:spPr>
          <a:xfrm flipV="1">
            <a:off x="9212580" y="2971800"/>
            <a:ext cx="0" cy="1303020"/>
          </a:xfrm>
          <a:prstGeom prst="line">
            <a:avLst/>
          </a:prstGeom>
          <a:ln w="15875">
            <a:solidFill>
              <a:srgbClr val="0B0B0B"/>
            </a:solidFill>
            <a:tailEnd type="triangle" w="med" len="med"/>
          </a:ln>
        </p:spPr>
      </p:cxnSp>
      <p:sp>
        <p:nvSpPr>
          <p:cNvPr id="25" name="side label 25"/>
          <p:cNvSpPr txBox="1"/>
          <p:nvPr/>
        </p:nvSpPr>
        <p:spPr>
          <a:xfrm>
            <a:off x="9304020" y="358902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0B0B0B"/>
                </a:solidFill>
                <a:latin typeface="Arial"/>
                <a:cs typeface="Arial"/>
              </a:rPr>
              <a:t>+32</a:t>
            </a:r>
            <a:endParaRPr lang="en-US" sz="1200" dirty="0"/>
          </a:p>
        </p:txBody>
      </p:sp>
      <p:sp>
        <p:nvSpPr>
          <p:cNvPr id="26" name="footnote 26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1100" b="0" i="0" dirty="0">
                <a:solidFill>
                  <a:srgbClr val="3D3C39"/>
                </a:solidFill>
                <a:latin typeface="Arial"/>
                <a:cs typeface="Arial"/>
              </a:rPr>
              <a:t>D′ = D, or D + 32 with a side path. The networks differ only in the memory inside the residual blocks and in the optional side path (Table 2); the embedding analysed in the letter is the head's input.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Factors">
  <a:themeElements>
    <a:clrScheme name="HARFactors">
      <a:dk1>
        <a:srgbClr val="0B0B0B"/>
      </a:dk1>
      <a:lt1>
        <a:srgbClr val="FFFFFF"/>
      </a:lt1>
      <a:dk2>
        <a:srgbClr val="3D3C39"/>
      </a:dk2>
      <a:lt2>
        <a:srgbClr val="ECEBE8"/>
      </a:lt2>
      <a:accent1>
        <a:srgbClr val="256ABF"/>
      </a:accent1>
      <a:accent2>
        <a:srgbClr val="D95926"/>
      </a:accent2>
      <a:accent3>
        <a:srgbClr val="199E70"/>
      </a:accent3>
      <a:accent4>
        <a:srgbClr val="C98500"/>
      </a:accent4>
      <a:accent5>
        <a:srgbClr val="D55181"/>
      </a:accent5>
      <a:accent6>
        <a:srgbClr val="4A3AA7"/>
      </a:accent6>
      <a:hlink>
        <a:srgbClr val="256ABF"/>
      </a:hlink>
      <a:folHlink>
        <a:srgbClr val="4A3AA7"/>
      </a:folHlink>
    </a:clrScheme>
    <a:fontScheme name="HARFactor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ARFacto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HARFactors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HARFactors: Figures 2 and 3</dc:title>
  <dc:creator>HARFactors (src/visualization/pptx_export.py)</dc:creator>
  <dcterms:created xsi:type="dcterms:W3CDTF">2026-10-17T10:06:01Z</dcterms:created>
</cp:coreProperties>
</file>